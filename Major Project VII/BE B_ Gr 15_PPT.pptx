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32" autoAdjust="0"/>
  </p:normalViewPr>
  <p:slideViewPr>
    <p:cSldViewPr>
      <p:cViewPr varScale="1">
        <p:scale>
          <a:sx n="95" d="100"/>
          <a:sy n="95" d="100"/>
        </p:scale>
        <p:origin x="1788" y="90"/>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14B0E0B4-A6F2-4486-8690-80CF71011DA0}"/>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7D3415AF-DEAD-48DC-BD9D-AAB6DA780235}"/>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2495FC54-F1DB-4B8E-A458-30D02C77CFA6}"/>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5FB86D4B-0DB5-49DB-ABB3-8FB0068F8676}"/>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F41898EE-9020-440B-AEA4-87FDB2BAC2D6}"/>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407D8518-7FF9-46BD-BC19-12F7ACFA5664}"/>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72061BF7-499F-44AB-B2C8-D55C4C325793}"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221EBCB5-552C-469C-8D8B-099D1D924AEF}"/>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B8A183EC-1F42-47EE-8C9A-A248147FC7C5}"/>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5A9B37E-B05F-4DD3-9D81-D1820E627EAA}"/>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D6509AB1-CF17-4496-8887-EF271F4FC8CD}"/>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4B8F59D8-4F71-43CA-84E2-1A24222EFEC1}"/>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2341FEF5-80D8-47D2-9ED6-344C4199D74D}"/>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1BC232F6-56A4-46A9-9666-9FD087F463DA}"/>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4345F2DB-C081-4FF8-889E-98B64855D215}"/>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DFD8F3AE-51DB-46CF-AB76-42A01B3F7354}"/>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D432F75A-F00B-4FE4-8DFE-C93788C276E6}"/>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8A26A4AB-9A30-48E3-9630-1FA5701B09F7}"/>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C1575A3F-C614-41A3-A417-D44ACD3A486A}"/>
              </a:ext>
            </a:extLst>
          </p:cNvPr>
          <p:cNvSpPr>
            <a:spLocks noGrp="1"/>
          </p:cNvSpPr>
          <p:nvPr>
            <p:ph type="dt" sz="half" idx="10"/>
          </p:nvPr>
        </p:nvSpPr>
        <p:spPr/>
        <p:txBody>
          <a:bodyPr/>
          <a:lstStyle>
            <a:lvl1pPr>
              <a:defRPr/>
            </a:lvl1pPr>
          </a:lstStyle>
          <a:p>
            <a:pPr>
              <a:defRPr/>
            </a:pPr>
            <a:fld id="{257104CE-07BE-431A-B742-143399ACDCC2}" type="datetimeFigureOut">
              <a:rPr lang="en-US"/>
              <a:pPr>
                <a:defRPr/>
              </a:pPr>
              <a:t>10/17/2025</a:t>
            </a:fld>
            <a:endParaRPr lang="en-US" dirty="0"/>
          </a:p>
        </p:txBody>
      </p:sp>
      <p:sp>
        <p:nvSpPr>
          <p:cNvPr id="16" name="Footer Placeholder 4">
            <a:extLst>
              <a:ext uri="{FF2B5EF4-FFF2-40B4-BE49-F238E27FC236}">
                <a16:creationId xmlns:a16="http://schemas.microsoft.com/office/drawing/2014/main" id="{37140293-440F-4825-B887-70C0F939A6E1}"/>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5775DF3E-22BF-4B53-8B40-529BF0EDC002}"/>
              </a:ext>
            </a:extLst>
          </p:cNvPr>
          <p:cNvSpPr>
            <a:spLocks noGrp="1"/>
          </p:cNvSpPr>
          <p:nvPr>
            <p:ph type="sldNum" sz="quarter" idx="12"/>
          </p:nvPr>
        </p:nvSpPr>
        <p:spPr/>
        <p:txBody>
          <a:bodyPr/>
          <a:lstStyle>
            <a:lvl1pPr>
              <a:defRPr/>
            </a:lvl1pPr>
          </a:lstStyle>
          <a:p>
            <a:pPr>
              <a:defRPr/>
            </a:pPr>
            <a:fld id="{7F5C8FEC-3339-4BDE-AA8D-929A872C96F2}" type="slidenum">
              <a:rPr lang="en-US"/>
              <a:pPr>
                <a:defRPr/>
              </a:pPr>
              <a:t>‹#›</a:t>
            </a:fld>
            <a:endParaRPr lang="en-US" dirty="0"/>
          </a:p>
        </p:txBody>
      </p:sp>
    </p:spTree>
    <p:extLst>
      <p:ext uri="{BB962C8B-B14F-4D97-AF65-F5344CB8AC3E}">
        <p14:creationId xmlns:p14="http://schemas.microsoft.com/office/powerpoint/2010/main" val="2135142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354E223-6158-4659-B2D1-E70EF4C86B88}"/>
              </a:ext>
            </a:extLst>
          </p:cNvPr>
          <p:cNvSpPr>
            <a:spLocks noGrp="1"/>
          </p:cNvSpPr>
          <p:nvPr>
            <p:ph type="dt" sz="half" idx="10"/>
          </p:nvPr>
        </p:nvSpPr>
        <p:spPr/>
        <p:txBody>
          <a:bodyPr/>
          <a:lstStyle>
            <a:lvl1pPr>
              <a:defRPr/>
            </a:lvl1pPr>
          </a:lstStyle>
          <a:p>
            <a:pPr>
              <a:defRPr/>
            </a:pPr>
            <a:fld id="{9791FFDD-402D-468A-96CF-D4E96AE50BF9}"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E53B4117-EF04-4EBA-8573-A383336DBD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754E01B-4200-4E70-9C6D-A41951F525CA}"/>
              </a:ext>
            </a:extLst>
          </p:cNvPr>
          <p:cNvSpPr>
            <a:spLocks noGrp="1"/>
          </p:cNvSpPr>
          <p:nvPr>
            <p:ph type="sldNum" sz="quarter" idx="12"/>
          </p:nvPr>
        </p:nvSpPr>
        <p:spPr/>
        <p:txBody>
          <a:bodyPr/>
          <a:lstStyle>
            <a:lvl1pPr>
              <a:defRPr/>
            </a:lvl1pPr>
          </a:lstStyle>
          <a:p>
            <a:pPr>
              <a:defRPr/>
            </a:pPr>
            <a:fld id="{0FB43915-40C7-4B4C-9392-BC30A50AF82E}" type="slidenum">
              <a:rPr lang="en-US"/>
              <a:pPr>
                <a:defRPr/>
              </a:pPr>
              <a:t>‹#›</a:t>
            </a:fld>
            <a:endParaRPr lang="en-US" dirty="0"/>
          </a:p>
        </p:txBody>
      </p:sp>
    </p:spTree>
    <p:extLst>
      <p:ext uri="{BB962C8B-B14F-4D97-AF65-F5344CB8AC3E}">
        <p14:creationId xmlns:p14="http://schemas.microsoft.com/office/powerpoint/2010/main" val="3066093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8B178B-B974-468D-BC61-D14C6F0BD842}"/>
              </a:ext>
            </a:extLst>
          </p:cNvPr>
          <p:cNvSpPr>
            <a:spLocks noGrp="1"/>
          </p:cNvSpPr>
          <p:nvPr>
            <p:ph type="dt" sz="half" idx="10"/>
          </p:nvPr>
        </p:nvSpPr>
        <p:spPr/>
        <p:txBody>
          <a:bodyPr/>
          <a:lstStyle>
            <a:lvl1pPr>
              <a:defRPr/>
            </a:lvl1pPr>
          </a:lstStyle>
          <a:p>
            <a:pPr>
              <a:defRPr/>
            </a:pPr>
            <a:fld id="{8F9804BC-C237-4CAA-9BBF-79679E6CDBD1}"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3A41192F-053C-49EE-896D-6D3CD037BA0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9E471B7-900B-40ED-A02B-4EF1D3EA9CCB}"/>
              </a:ext>
            </a:extLst>
          </p:cNvPr>
          <p:cNvSpPr>
            <a:spLocks noGrp="1"/>
          </p:cNvSpPr>
          <p:nvPr>
            <p:ph type="sldNum" sz="quarter" idx="12"/>
          </p:nvPr>
        </p:nvSpPr>
        <p:spPr/>
        <p:txBody>
          <a:bodyPr/>
          <a:lstStyle>
            <a:lvl1pPr>
              <a:defRPr/>
            </a:lvl1pPr>
          </a:lstStyle>
          <a:p>
            <a:pPr>
              <a:defRPr/>
            </a:pPr>
            <a:fld id="{77F2A4E6-4A8C-4C61-A63E-6B5C81181CC7}" type="slidenum">
              <a:rPr lang="en-US"/>
              <a:pPr>
                <a:defRPr/>
              </a:pPr>
              <a:t>‹#›</a:t>
            </a:fld>
            <a:endParaRPr lang="en-US" dirty="0"/>
          </a:p>
        </p:txBody>
      </p:sp>
    </p:spTree>
    <p:extLst>
      <p:ext uri="{BB962C8B-B14F-4D97-AF65-F5344CB8AC3E}">
        <p14:creationId xmlns:p14="http://schemas.microsoft.com/office/powerpoint/2010/main" val="1669305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698E9517-8648-4126-AC2F-62C2E4C05AAA}"/>
              </a:ext>
            </a:extLst>
          </p:cNvPr>
          <p:cNvSpPr>
            <a:spLocks noGrp="1"/>
          </p:cNvSpPr>
          <p:nvPr>
            <p:ph type="dt" sz="half" idx="10"/>
          </p:nvPr>
        </p:nvSpPr>
        <p:spPr/>
        <p:txBody>
          <a:bodyPr/>
          <a:lstStyle>
            <a:lvl1pPr>
              <a:defRPr/>
            </a:lvl1pPr>
          </a:lstStyle>
          <a:p>
            <a:pPr>
              <a:defRPr/>
            </a:pPr>
            <a:fld id="{00F85825-6206-4AF3-9F60-20D9B9B563E4}" type="datetimeFigureOut">
              <a:rPr lang="en-US"/>
              <a:pPr>
                <a:defRPr/>
              </a:pPr>
              <a:t>10/17/2025</a:t>
            </a:fld>
            <a:endParaRPr lang="en-US" dirty="0"/>
          </a:p>
        </p:txBody>
      </p:sp>
      <p:sp>
        <p:nvSpPr>
          <p:cNvPr id="6" name="Footer Placeholder 4">
            <a:extLst>
              <a:ext uri="{FF2B5EF4-FFF2-40B4-BE49-F238E27FC236}">
                <a16:creationId xmlns:a16="http://schemas.microsoft.com/office/drawing/2014/main" id="{1D8A81F0-1440-4708-B2CD-03E59B3D605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5931F8A-4827-464D-A1F4-5360F55E47F9}"/>
              </a:ext>
            </a:extLst>
          </p:cNvPr>
          <p:cNvSpPr>
            <a:spLocks noGrp="1"/>
          </p:cNvSpPr>
          <p:nvPr>
            <p:ph type="sldNum" sz="quarter" idx="12"/>
          </p:nvPr>
        </p:nvSpPr>
        <p:spPr/>
        <p:txBody>
          <a:bodyPr/>
          <a:lstStyle>
            <a:lvl1pPr>
              <a:defRPr/>
            </a:lvl1pPr>
          </a:lstStyle>
          <a:p>
            <a:pPr>
              <a:defRPr/>
            </a:pPr>
            <a:fld id="{52734518-C9E1-46AC-91A2-8DFAB4FD5B1A}" type="slidenum">
              <a:rPr lang="en-US"/>
              <a:pPr>
                <a:defRPr/>
              </a:pPr>
              <a:t>‹#›</a:t>
            </a:fld>
            <a:endParaRPr lang="en-US" dirty="0"/>
          </a:p>
        </p:txBody>
      </p:sp>
    </p:spTree>
    <p:extLst>
      <p:ext uri="{BB962C8B-B14F-4D97-AF65-F5344CB8AC3E}">
        <p14:creationId xmlns:p14="http://schemas.microsoft.com/office/powerpoint/2010/main" val="1723584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92A4B94-A600-4816-A0BC-62B5577C7ECA}"/>
              </a:ext>
            </a:extLst>
          </p:cNvPr>
          <p:cNvSpPr>
            <a:spLocks noGrp="1"/>
          </p:cNvSpPr>
          <p:nvPr>
            <p:ph type="dt" sz="half" idx="10"/>
          </p:nvPr>
        </p:nvSpPr>
        <p:spPr/>
        <p:txBody>
          <a:bodyPr/>
          <a:lstStyle>
            <a:lvl1pPr>
              <a:defRPr/>
            </a:lvl1pPr>
          </a:lstStyle>
          <a:p>
            <a:pPr>
              <a:defRPr/>
            </a:pPr>
            <a:fld id="{54202528-10F2-4E68-AA5B-989FFEF4B70A}" type="datetimeFigureOut">
              <a:rPr lang="en-US"/>
              <a:pPr>
                <a:defRPr/>
              </a:pPr>
              <a:t>10/17/2025</a:t>
            </a:fld>
            <a:endParaRPr lang="en-US" dirty="0"/>
          </a:p>
        </p:txBody>
      </p:sp>
      <p:sp>
        <p:nvSpPr>
          <p:cNvPr id="8" name="Footer Placeholder 4">
            <a:extLst>
              <a:ext uri="{FF2B5EF4-FFF2-40B4-BE49-F238E27FC236}">
                <a16:creationId xmlns:a16="http://schemas.microsoft.com/office/drawing/2014/main" id="{FBC0DC52-CCF7-4DF5-89BE-D562E876500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8689B10-7B03-4C6F-93CB-C12DB704A3A8}"/>
              </a:ext>
            </a:extLst>
          </p:cNvPr>
          <p:cNvSpPr>
            <a:spLocks noGrp="1"/>
          </p:cNvSpPr>
          <p:nvPr>
            <p:ph type="sldNum" sz="quarter" idx="12"/>
          </p:nvPr>
        </p:nvSpPr>
        <p:spPr/>
        <p:txBody>
          <a:bodyPr/>
          <a:lstStyle>
            <a:lvl1pPr>
              <a:defRPr/>
            </a:lvl1pPr>
          </a:lstStyle>
          <a:p>
            <a:pPr>
              <a:defRPr/>
            </a:pPr>
            <a:fld id="{622398E5-D926-4F58-BA0C-AB63D3A2F4DA}" type="slidenum">
              <a:rPr lang="en-US"/>
              <a:pPr>
                <a:defRPr/>
              </a:pPr>
              <a:t>‹#›</a:t>
            </a:fld>
            <a:endParaRPr lang="en-US" dirty="0"/>
          </a:p>
        </p:txBody>
      </p:sp>
    </p:spTree>
    <p:extLst>
      <p:ext uri="{BB962C8B-B14F-4D97-AF65-F5344CB8AC3E}">
        <p14:creationId xmlns:p14="http://schemas.microsoft.com/office/powerpoint/2010/main" val="419528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344305B-58D4-4F31-AA25-B0F47A5664D9}"/>
              </a:ext>
            </a:extLst>
          </p:cNvPr>
          <p:cNvSpPr>
            <a:spLocks noGrp="1"/>
          </p:cNvSpPr>
          <p:nvPr>
            <p:ph type="dt" sz="half" idx="10"/>
          </p:nvPr>
        </p:nvSpPr>
        <p:spPr/>
        <p:txBody>
          <a:bodyPr/>
          <a:lstStyle>
            <a:lvl1pPr>
              <a:defRPr/>
            </a:lvl1pPr>
          </a:lstStyle>
          <a:p>
            <a:pPr>
              <a:defRPr/>
            </a:pPr>
            <a:fld id="{1CA7567E-7534-42C1-BA76-A47DABDF7756}" type="datetimeFigureOut">
              <a:rPr lang="en-US"/>
              <a:pPr>
                <a:defRPr/>
              </a:pPr>
              <a:t>10/17/2025</a:t>
            </a:fld>
            <a:endParaRPr lang="en-US" dirty="0"/>
          </a:p>
        </p:txBody>
      </p:sp>
      <p:sp>
        <p:nvSpPr>
          <p:cNvPr id="4" name="Footer Placeholder 4">
            <a:extLst>
              <a:ext uri="{FF2B5EF4-FFF2-40B4-BE49-F238E27FC236}">
                <a16:creationId xmlns:a16="http://schemas.microsoft.com/office/drawing/2014/main" id="{2D123D04-0B73-446B-84A6-3AB595C57E4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1DAB310-E6B5-4151-A615-0B9943C1C06E}"/>
              </a:ext>
            </a:extLst>
          </p:cNvPr>
          <p:cNvSpPr>
            <a:spLocks noGrp="1"/>
          </p:cNvSpPr>
          <p:nvPr>
            <p:ph type="sldNum" sz="quarter" idx="12"/>
          </p:nvPr>
        </p:nvSpPr>
        <p:spPr/>
        <p:txBody>
          <a:bodyPr/>
          <a:lstStyle>
            <a:lvl1pPr>
              <a:defRPr/>
            </a:lvl1pPr>
          </a:lstStyle>
          <a:p>
            <a:pPr>
              <a:defRPr/>
            </a:pPr>
            <a:fld id="{3C88599B-291F-4507-9C43-926401E8CECD}" type="slidenum">
              <a:rPr lang="en-US"/>
              <a:pPr>
                <a:defRPr/>
              </a:pPr>
              <a:t>‹#›</a:t>
            </a:fld>
            <a:endParaRPr lang="en-US" dirty="0"/>
          </a:p>
        </p:txBody>
      </p:sp>
    </p:spTree>
    <p:extLst>
      <p:ext uri="{BB962C8B-B14F-4D97-AF65-F5344CB8AC3E}">
        <p14:creationId xmlns:p14="http://schemas.microsoft.com/office/powerpoint/2010/main" val="1829481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A60BDB4-057D-4E36-8FD9-EAD5C55F545C}"/>
              </a:ext>
            </a:extLst>
          </p:cNvPr>
          <p:cNvSpPr>
            <a:spLocks noGrp="1"/>
          </p:cNvSpPr>
          <p:nvPr>
            <p:ph type="dt" sz="half" idx="10"/>
          </p:nvPr>
        </p:nvSpPr>
        <p:spPr/>
        <p:txBody>
          <a:bodyPr/>
          <a:lstStyle>
            <a:lvl1pPr>
              <a:defRPr/>
            </a:lvl1pPr>
          </a:lstStyle>
          <a:p>
            <a:pPr>
              <a:defRPr/>
            </a:pPr>
            <a:fld id="{A876AA6E-DBBA-4FE4-93A2-AC7D9DCB2751}" type="datetimeFigureOut">
              <a:rPr lang="en-US"/>
              <a:pPr>
                <a:defRPr/>
              </a:pPr>
              <a:t>10/17/2025</a:t>
            </a:fld>
            <a:endParaRPr lang="en-US" dirty="0"/>
          </a:p>
        </p:txBody>
      </p:sp>
      <p:sp>
        <p:nvSpPr>
          <p:cNvPr id="3" name="Footer Placeholder 4">
            <a:extLst>
              <a:ext uri="{FF2B5EF4-FFF2-40B4-BE49-F238E27FC236}">
                <a16:creationId xmlns:a16="http://schemas.microsoft.com/office/drawing/2014/main" id="{34A88648-B38F-48A4-8001-61B9D4E381E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4EEB07A-27D2-4442-BD2C-483D46AD9151}"/>
              </a:ext>
            </a:extLst>
          </p:cNvPr>
          <p:cNvSpPr>
            <a:spLocks noGrp="1"/>
          </p:cNvSpPr>
          <p:nvPr>
            <p:ph type="sldNum" sz="quarter" idx="12"/>
          </p:nvPr>
        </p:nvSpPr>
        <p:spPr/>
        <p:txBody>
          <a:bodyPr/>
          <a:lstStyle>
            <a:lvl1pPr>
              <a:defRPr/>
            </a:lvl1pPr>
          </a:lstStyle>
          <a:p>
            <a:pPr>
              <a:defRPr/>
            </a:pPr>
            <a:fld id="{2030CD30-8D39-44ED-A845-9CC9C3828653}" type="slidenum">
              <a:rPr lang="en-US"/>
              <a:pPr>
                <a:defRPr/>
              </a:pPr>
              <a:t>‹#›</a:t>
            </a:fld>
            <a:endParaRPr lang="en-US" dirty="0"/>
          </a:p>
        </p:txBody>
      </p:sp>
    </p:spTree>
    <p:extLst>
      <p:ext uri="{BB962C8B-B14F-4D97-AF65-F5344CB8AC3E}">
        <p14:creationId xmlns:p14="http://schemas.microsoft.com/office/powerpoint/2010/main" val="3227293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470AEB0D-A036-443E-8482-69C67BC5283B}"/>
              </a:ext>
            </a:extLst>
          </p:cNvPr>
          <p:cNvSpPr>
            <a:spLocks noGrp="1"/>
          </p:cNvSpPr>
          <p:nvPr>
            <p:ph type="dt" sz="half" idx="10"/>
          </p:nvPr>
        </p:nvSpPr>
        <p:spPr/>
        <p:txBody>
          <a:bodyPr/>
          <a:lstStyle>
            <a:lvl1pPr>
              <a:defRPr/>
            </a:lvl1pPr>
          </a:lstStyle>
          <a:p>
            <a:pPr>
              <a:defRPr/>
            </a:pPr>
            <a:fld id="{E9557618-B289-4F25-929D-069E9D33F3CE}" type="datetimeFigureOut">
              <a:rPr lang="en-US"/>
              <a:pPr>
                <a:defRPr/>
              </a:pPr>
              <a:t>10/17/2025</a:t>
            </a:fld>
            <a:endParaRPr lang="en-US" dirty="0"/>
          </a:p>
        </p:txBody>
      </p:sp>
      <p:sp>
        <p:nvSpPr>
          <p:cNvPr id="6" name="Footer Placeholder 4">
            <a:extLst>
              <a:ext uri="{FF2B5EF4-FFF2-40B4-BE49-F238E27FC236}">
                <a16:creationId xmlns:a16="http://schemas.microsoft.com/office/drawing/2014/main" id="{964018A6-5E3B-4F4A-A2E4-C487FFA3AF3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4FB16C0-0E50-4DD5-BF57-4B570D7A50B6}"/>
              </a:ext>
            </a:extLst>
          </p:cNvPr>
          <p:cNvSpPr>
            <a:spLocks noGrp="1"/>
          </p:cNvSpPr>
          <p:nvPr>
            <p:ph type="sldNum" sz="quarter" idx="12"/>
          </p:nvPr>
        </p:nvSpPr>
        <p:spPr/>
        <p:txBody>
          <a:bodyPr/>
          <a:lstStyle>
            <a:lvl1pPr>
              <a:defRPr/>
            </a:lvl1pPr>
          </a:lstStyle>
          <a:p>
            <a:pPr>
              <a:defRPr/>
            </a:pPr>
            <a:fld id="{C43480F4-6FE5-4618-8E68-0EAB3B5771E3}" type="slidenum">
              <a:rPr lang="en-US"/>
              <a:pPr>
                <a:defRPr/>
              </a:pPr>
              <a:t>‹#›</a:t>
            </a:fld>
            <a:endParaRPr lang="en-US" dirty="0"/>
          </a:p>
        </p:txBody>
      </p:sp>
    </p:spTree>
    <p:extLst>
      <p:ext uri="{BB962C8B-B14F-4D97-AF65-F5344CB8AC3E}">
        <p14:creationId xmlns:p14="http://schemas.microsoft.com/office/powerpoint/2010/main" val="74374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04ADBBE4-0EA4-48DD-938B-1E3E39A3C30B}"/>
              </a:ext>
            </a:extLst>
          </p:cNvPr>
          <p:cNvSpPr>
            <a:spLocks noGrp="1"/>
          </p:cNvSpPr>
          <p:nvPr>
            <p:ph type="dt" sz="half" idx="10"/>
          </p:nvPr>
        </p:nvSpPr>
        <p:spPr/>
        <p:txBody>
          <a:bodyPr/>
          <a:lstStyle>
            <a:lvl1pPr>
              <a:defRPr/>
            </a:lvl1pPr>
          </a:lstStyle>
          <a:p>
            <a:pPr>
              <a:defRPr/>
            </a:pPr>
            <a:fld id="{126D825A-9658-45D0-B484-EC6FA17AD965}" type="datetimeFigureOut">
              <a:rPr lang="en-US"/>
              <a:pPr>
                <a:defRPr/>
              </a:pPr>
              <a:t>10/17/2025</a:t>
            </a:fld>
            <a:endParaRPr lang="en-US" dirty="0"/>
          </a:p>
        </p:txBody>
      </p:sp>
      <p:sp>
        <p:nvSpPr>
          <p:cNvPr id="6" name="Footer Placeholder 4">
            <a:extLst>
              <a:ext uri="{FF2B5EF4-FFF2-40B4-BE49-F238E27FC236}">
                <a16:creationId xmlns:a16="http://schemas.microsoft.com/office/drawing/2014/main" id="{BB9A057C-DB58-4DBC-B22A-BB28EB48898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AD3BCD4-69C6-4F03-B5D5-56C07D358686}"/>
              </a:ext>
            </a:extLst>
          </p:cNvPr>
          <p:cNvSpPr>
            <a:spLocks noGrp="1"/>
          </p:cNvSpPr>
          <p:nvPr>
            <p:ph type="sldNum" sz="quarter" idx="12"/>
          </p:nvPr>
        </p:nvSpPr>
        <p:spPr/>
        <p:txBody>
          <a:bodyPr/>
          <a:lstStyle>
            <a:lvl1pPr>
              <a:defRPr/>
            </a:lvl1pPr>
          </a:lstStyle>
          <a:p>
            <a:pPr>
              <a:defRPr/>
            </a:pPr>
            <a:fld id="{766C7AF2-B109-4A63-B951-D18A2DE45052}" type="slidenum">
              <a:rPr lang="en-US"/>
              <a:pPr>
                <a:defRPr/>
              </a:pPr>
              <a:t>‹#›</a:t>
            </a:fld>
            <a:endParaRPr lang="en-US" dirty="0"/>
          </a:p>
        </p:txBody>
      </p:sp>
    </p:spTree>
    <p:extLst>
      <p:ext uri="{BB962C8B-B14F-4D97-AF65-F5344CB8AC3E}">
        <p14:creationId xmlns:p14="http://schemas.microsoft.com/office/powerpoint/2010/main" val="1687887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298180-5E2B-4C99-8670-E544B52CA980}"/>
              </a:ext>
            </a:extLst>
          </p:cNvPr>
          <p:cNvSpPr>
            <a:spLocks noGrp="1"/>
          </p:cNvSpPr>
          <p:nvPr>
            <p:ph type="dt" sz="half" idx="10"/>
          </p:nvPr>
        </p:nvSpPr>
        <p:spPr/>
        <p:txBody>
          <a:bodyPr/>
          <a:lstStyle>
            <a:lvl1pPr>
              <a:defRPr/>
            </a:lvl1pPr>
          </a:lstStyle>
          <a:p>
            <a:pPr>
              <a:defRPr/>
            </a:pPr>
            <a:fld id="{B61C55B5-240C-4320-858C-38CFEA21F481}"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9D79B823-A18E-4DA3-9A77-C097EFA1B79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2F4CC45-F540-4F8F-B6E0-0A3E7FCF35F0}"/>
              </a:ext>
            </a:extLst>
          </p:cNvPr>
          <p:cNvSpPr>
            <a:spLocks noGrp="1"/>
          </p:cNvSpPr>
          <p:nvPr>
            <p:ph type="sldNum" sz="quarter" idx="12"/>
          </p:nvPr>
        </p:nvSpPr>
        <p:spPr/>
        <p:txBody>
          <a:bodyPr/>
          <a:lstStyle>
            <a:lvl1pPr>
              <a:defRPr/>
            </a:lvl1pPr>
          </a:lstStyle>
          <a:p>
            <a:pPr>
              <a:defRPr/>
            </a:pPr>
            <a:fld id="{7C2CB14E-32F2-4DF4-A683-5B1B313C8C55}" type="slidenum">
              <a:rPr lang="en-US"/>
              <a:pPr>
                <a:defRPr/>
              </a:pPr>
              <a:t>‹#›</a:t>
            </a:fld>
            <a:endParaRPr lang="en-US" dirty="0"/>
          </a:p>
        </p:txBody>
      </p:sp>
    </p:spTree>
    <p:extLst>
      <p:ext uri="{BB962C8B-B14F-4D97-AF65-F5344CB8AC3E}">
        <p14:creationId xmlns:p14="http://schemas.microsoft.com/office/powerpoint/2010/main" val="2014077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5508E7-26A2-44E2-9411-7DE5F4CEE863}"/>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6" name="TextBox 5">
            <a:extLst>
              <a:ext uri="{FF2B5EF4-FFF2-40B4-BE49-F238E27FC236}">
                <a16:creationId xmlns:a16="http://schemas.microsoft.com/office/drawing/2014/main" id="{AB31B24F-8CAE-4DFC-A512-1B5E8C0C229F}"/>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1E44F123-DD4D-4FC7-8293-5E87222C99E2}"/>
              </a:ext>
            </a:extLst>
          </p:cNvPr>
          <p:cNvSpPr>
            <a:spLocks noGrp="1"/>
          </p:cNvSpPr>
          <p:nvPr>
            <p:ph type="dt" sz="half" idx="14"/>
          </p:nvPr>
        </p:nvSpPr>
        <p:spPr/>
        <p:txBody>
          <a:bodyPr/>
          <a:lstStyle>
            <a:lvl1pPr>
              <a:defRPr/>
            </a:lvl1pPr>
          </a:lstStyle>
          <a:p>
            <a:pPr>
              <a:defRPr/>
            </a:pPr>
            <a:fld id="{2B868649-EE5D-4677-B552-8C8C10BCC833}" type="datetimeFigureOut">
              <a:rPr lang="en-US"/>
              <a:pPr>
                <a:defRPr/>
              </a:pPr>
              <a:t>10/17/2025</a:t>
            </a:fld>
            <a:endParaRPr lang="en-US" dirty="0"/>
          </a:p>
        </p:txBody>
      </p:sp>
      <p:sp>
        <p:nvSpPr>
          <p:cNvPr id="8" name="Footer Placeholder 4">
            <a:extLst>
              <a:ext uri="{FF2B5EF4-FFF2-40B4-BE49-F238E27FC236}">
                <a16:creationId xmlns:a16="http://schemas.microsoft.com/office/drawing/2014/main" id="{7F8CF6A8-871C-4743-A9B8-84BAB6F1B24C}"/>
              </a:ext>
            </a:extLst>
          </p:cNvPr>
          <p:cNvSpPr>
            <a:spLocks noGrp="1"/>
          </p:cNvSpPr>
          <p:nvPr>
            <p:ph type="ftr" sz="quarter" idx="15"/>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0193AE4-24D2-4754-A07B-2A76AF695D1F}"/>
              </a:ext>
            </a:extLst>
          </p:cNvPr>
          <p:cNvSpPr>
            <a:spLocks noGrp="1"/>
          </p:cNvSpPr>
          <p:nvPr>
            <p:ph type="sldNum" sz="quarter" idx="16"/>
          </p:nvPr>
        </p:nvSpPr>
        <p:spPr/>
        <p:txBody>
          <a:bodyPr/>
          <a:lstStyle>
            <a:lvl1pPr>
              <a:defRPr/>
            </a:lvl1pPr>
          </a:lstStyle>
          <a:p>
            <a:pPr>
              <a:defRPr/>
            </a:pPr>
            <a:fld id="{7B89A2C2-4C10-44B4-932A-D9A6D4C24A73}" type="slidenum">
              <a:rPr lang="en-US"/>
              <a:pPr>
                <a:defRPr/>
              </a:pPr>
              <a:t>‹#›</a:t>
            </a:fld>
            <a:endParaRPr lang="en-US" dirty="0"/>
          </a:p>
        </p:txBody>
      </p:sp>
    </p:spTree>
    <p:extLst>
      <p:ext uri="{BB962C8B-B14F-4D97-AF65-F5344CB8AC3E}">
        <p14:creationId xmlns:p14="http://schemas.microsoft.com/office/powerpoint/2010/main" val="2652164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7E0E84-F5E9-453B-B91A-7BAD07984DBB}"/>
              </a:ext>
            </a:extLst>
          </p:cNvPr>
          <p:cNvSpPr>
            <a:spLocks noGrp="1"/>
          </p:cNvSpPr>
          <p:nvPr>
            <p:ph type="dt" sz="half" idx="10"/>
          </p:nvPr>
        </p:nvSpPr>
        <p:spPr/>
        <p:txBody>
          <a:bodyPr/>
          <a:lstStyle>
            <a:lvl1pPr>
              <a:defRPr/>
            </a:lvl1pPr>
          </a:lstStyle>
          <a:p>
            <a:pPr>
              <a:defRPr/>
            </a:pPr>
            <a:fld id="{D6C7DD51-A639-4854-94A5-B1C678C0722C}"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132F03A7-F80A-4AAE-9D81-326274F2E0B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383771-2EBA-4EEA-AE0C-6827408B6115}"/>
              </a:ext>
            </a:extLst>
          </p:cNvPr>
          <p:cNvSpPr>
            <a:spLocks noGrp="1"/>
          </p:cNvSpPr>
          <p:nvPr>
            <p:ph type="sldNum" sz="quarter" idx="12"/>
          </p:nvPr>
        </p:nvSpPr>
        <p:spPr/>
        <p:txBody>
          <a:bodyPr/>
          <a:lstStyle>
            <a:lvl1pPr>
              <a:defRPr/>
            </a:lvl1pPr>
          </a:lstStyle>
          <a:p>
            <a:pPr>
              <a:defRPr/>
            </a:pPr>
            <a:fld id="{608FA2F0-218B-45CB-BB2E-BA22399825AA}" type="slidenum">
              <a:rPr lang="en-US"/>
              <a:pPr>
                <a:defRPr/>
              </a:pPr>
              <a:t>‹#›</a:t>
            </a:fld>
            <a:endParaRPr lang="en-US" dirty="0"/>
          </a:p>
        </p:txBody>
      </p:sp>
    </p:spTree>
    <p:extLst>
      <p:ext uri="{BB962C8B-B14F-4D97-AF65-F5344CB8AC3E}">
        <p14:creationId xmlns:p14="http://schemas.microsoft.com/office/powerpoint/2010/main" val="6918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393382-4E5E-4564-BE6D-5C0E6E93FEB5}"/>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6" name="TextBox 5">
            <a:extLst>
              <a:ext uri="{FF2B5EF4-FFF2-40B4-BE49-F238E27FC236}">
                <a16:creationId xmlns:a16="http://schemas.microsoft.com/office/drawing/2014/main" id="{698B9805-14B8-4399-93A1-8963FE58066C}"/>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1BE3A6FD-E3BB-4C37-8B9F-78DCB70A1469}"/>
              </a:ext>
            </a:extLst>
          </p:cNvPr>
          <p:cNvSpPr>
            <a:spLocks noGrp="1"/>
          </p:cNvSpPr>
          <p:nvPr>
            <p:ph type="dt" sz="half" idx="14"/>
          </p:nvPr>
        </p:nvSpPr>
        <p:spPr/>
        <p:txBody>
          <a:bodyPr/>
          <a:lstStyle>
            <a:lvl1pPr>
              <a:defRPr/>
            </a:lvl1pPr>
          </a:lstStyle>
          <a:p>
            <a:pPr>
              <a:defRPr/>
            </a:pPr>
            <a:fld id="{557C8220-D6C0-40C0-B961-226F60D753C3}" type="datetimeFigureOut">
              <a:rPr lang="en-US"/>
              <a:pPr>
                <a:defRPr/>
              </a:pPr>
              <a:t>10/17/2025</a:t>
            </a:fld>
            <a:endParaRPr lang="en-US" dirty="0"/>
          </a:p>
        </p:txBody>
      </p:sp>
      <p:sp>
        <p:nvSpPr>
          <p:cNvPr id="8" name="Footer Placeholder 4">
            <a:extLst>
              <a:ext uri="{FF2B5EF4-FFF2-40B4-BE49-F238E27FC236}">
                <a16:creationId xmlns:a16="http://schemas.microsoft.com/office/drawing/2014/main" id="{9C53C713-273B-4C59-958D-EC07B7C4F314}"/>
              </a:ext>
            </a:extLst>
          </p:cNvPr>
          <p:cNvSpPr>
            <a:spLocks noGrp="1"/>
          </p:cNvSpPr>
          <p:nvPr>
            <p:ph type="ftr" sz="quarter" idx="15"/>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C1120A1-BBE0-4179-A0DA-554F967A75E7}"/>
              </a:ext>
            </a:extLst>
          </p:cNvPr>
          <p:cNvSpPr>
            <a:spLocks noGrp="1"/>
          </p:cNvSpPr>
          <p:nvPr>
            <p:ph type="sldNum" sz="quarter" idx="16"/>
          </p:nvPr>
        </p:nvSpPr>
        <p:spPr/>
        <p:txBody>
          <a:bodyPr/>
          <a:lstStyle>
            <a:lvl1pPr>
              <a:defRPr/>
            </a:lvl1pPr>
          </a:lstStyle>
          <a:p>
            <a:pPr>
              <a:defRPr/>
            </a:pPr>
            <a:fld id="{9F1936F3-2C2D-49AF-831F-B0A95CFFE881}" type="slidenum">
              <a:rPr lang="en-US"/>
              <a:pPr>
                <a:defRPr/>
              </a:pPr>
              <a:t>‹#›</a:t>
            </a:fld>
            <a:endParaRPr lang="en-US" dirty="0"/>
          </a:p>
        </p:txBody>
      </p:sp>
    </p:spTree>
    <p:extLst>
      <p:ext uri="{BB962C8B-B14F-4D97-AF65-F5344CB8AC3E}">
        <p14:creationId xmlns:p14="http://schemas.microsoft.com/office/powerpoint/2010/main" val="4021537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1FDD61EA-9C84-4240-9063-24B0257D2782}"/>
              </a:ext>
            </a:extLst>
          </p:cNvPr>
          <p:cNvSpPr>
            <a:spLocks noGrp="1"/>
          </p:cNvSpPr>
          <p:nvPr>
            <p:ph type="dt" sz="half" idx="14"/>
          </p:nvPr>
        </p:nvSpPr>
        <p:spPr/>
        <p:txBody>
          <a:bodyPr/>
          <a:lstStyle>
            <a:lvl1pPr>
              <a:defRPr/>
            </a:lvl1pPr>
          </a:lstStyle>
          <a:p>
            <a:pPr>
              <a:defRPr/>
            </a:pPr>
            <a:fld id="{6143BE56-CC9E-4F54-8B1C-0D92FCF11E2E}" type="datetimeFigureOut">
              <a:rPr lang="en-US"/>
              <a:pPr>
                <a:defRPr/>
              </a:pPr>
              <a:t>10/17/2025</a:t>
            </a:fld>
            <a:endParaRPr lang="en-US" dirty="0"/>
          </a:p>
        </p:txBody>
      </p:sp>
      <p:sp>
        <p:nvSpPr>
          <p:cNvPr id="6" name="Footer Placeholder 4">
            <a:extLst>
              <a:ext uri="{FF2B5EF4-FFF2-40B4-BE49-F238E27FC236}">
                <a16:creationId xmlns:a16="http://schemas.microsoft.com/office/drawing/2014/main" id="{5A2DE72B-7E4F-45C0-B9ED-D39B34E99F2D}"/>
              </a:ext>
            </a:extLst>
          </p:cNvPr>
          <p:cNvSpPr>
            <a:spLocks noGrp="1"/>
          </p:cNvSpPr>
          <p:nvPr>
            <p:ph type="ftr" sz="quarter" idx="15"/>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6A4BC1D-B7F2-47E7-AC5A-A76A26E79770}"/>
              </a:ext>
            </a:extLst>
          </p:cNvPr>
          <p:cNvSpPr>
            <a:spLocks noGrp="1"/>
          </p:cNvSpPr>
          <p:nvPr>
            <p:ph type="sldNum" sz="quarter" idx="16"/>
          </p:nvPr>
        </p:nvSpPr>
        <p:spPr/>
        <p:txBody>
          <a:bodyPr/>
          <a:lstStyle>
            <a:lvl1pPr>
              <a:defRPr/>
            </a:lvl1pPr>
          </a:lstStyle>
          <a:p>
            <a:pPr>
              <a:defRPr/>
            </a:pPr>
            <a:fld id="{A4711E98-3462-4171-8492-A3BBCA0459B2}" type="slidenum">
              <a:rPr lang="en-US"/>
              <a:pPr>
                <a:defRPr/>
              </a:pPr>
              <a:t>‹#›</a:t>
            </a:fld>
            <a:endParaRPr lang="en-US" dirty="0"/>
          </a:p>
        </p:txBody>
      </p:sp>
    </p:spTree>
    <p:extLst>
      <p:ext uri="{BB962C8B-B14F-4D97-AF65-F5344CB8AC3E}">
        <p14:creationId xmlns:p14="http://schemas.microsoft.com/office/powerpoint/2010/main" val="2548639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94BD9B3-9443-4094-9B42-1FA1EC8A3AD6}"/>
              </a:ext>
            </a:extLst>
          </p:cNvPr>
          <p:cNvSpPr>
            <a:spLocks noGrp="1"/>
          </p:cNvSpPr>
          <p:nvPr>
            <p:ph type="dt" sz="half" idx="10"/>
          </p:nvPr>
        </p:nvSpPr>
        <p:spPr/>
        <p:txBody>
          <a:bodyPr/>
          <a:lstStyle>
            <a:lvl1pPr>
              <a:defRPr/>
            </a:lvl1pPr>
          </a:lstStyle>
          <a:p>
            <a:pPr>
              <a:defRPr/>
            </a:pPr>
            <a:fld id="{EB625C50-659E-43C5-9FC9-D8CD424A16FA}"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2A848C21-91E4-4CB6-B2C5-7A8F3D73923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ACE4E06-4179-4857-863D-E115662CF6F6}"/>
              </a:ext>
            </a:extLst>
          </p:cNvPr>
          <p:cNvSpPr>
            <a:spLocks noGrp="1"/>
          </p:cNvSpPr>
          <p:nvPr>
            <p:ph type="sldNum" sz="quarter" idx="12"/>
          </p:nvPr>
        </p:nvSpPr>
        <p:spPr/>
        <p:txBody>
          <a:bodyPr/>
          <a:lstStyle>
            <a:lvl1pPr>
              <a:defRPr/>
            </a:lvl1pPr>
          </a:lstStyle>
          <a:p>
            <a:pPr>
              <a:defRPr/>
            </a:pPr>
            <a:fld id="{E3B9B5B8-5C3F-46CA-84E8-DB0EE17D9C43}" type="slidenum">
              <a:rPr lang="en-US"/>
              <a:pPr>
                <a:defRPr/>
              </a:pPr>
              <a:t>‹#›</a:t>
            </a:fld>
            <a:endParaRPr lang="en-US" dirty="0"/>
          </a:p>
        </p:txBody>
      </p:sp>
    </p:spTree>
    <p:extLst>
      <p:ext uri="{BB962C8B-B14F-4D97-AF65-F5344CB8AC3E}">
        <p14:creationId xmlns:p14="http://schemas.microsoft.com/office/powerpoint/2010/main" val="630302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9F2B6C1-B5BC-4A30-B9E8-6E96BB521A14}"/>
              </a:ext>
            </a:extLst>
          </p:cNvPr>
          <p:cNvSpPr>
            <a:spLocks noGrp="1"/>
          </p:cNvSpPr>
          <p:nvPr>
            <p:ph type="dt" sz="half" idx="10"/>
          </p:nvPr>
        </p:nvSpPr>
        <p:spPr/>
        <p:txBody>
          <a:bodyPr/>
          <a:lstStyle>
            <a:lvl1pPr>
              <a:defRPr/>
            </a:lvl1pPr>
          </a:lstStyle>
          <a:p>
            <a:pPr>
              <a:defRPr/>
            </a:pPr>
            <a:fld id="{AA103047-1C0C-445E-B245-8F208DDA1449}"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A9965E48-4040-4AFB-A8CC-94BE73EF6EF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5B6880-32C3-427B-AEB3-D65E236A27FE}"/>
              </a:ext>
            </a:extLst>
          </p:cNvPr>
          <p:cNvSpPr>
            <a:spLocks noGrp="1"/>
          </p:cNvSpPr>
          <p:nvPr>
            <p:ph type="sldNum" sz="quarter" idx="12"/>
          </p:nvPr>
        </p:nvSpPr>
        <p:spPr/>
        <p:txBody>
          <a:bodyPr/>
          <a:lstStyle>
            <a:lvl1pPr>
              <a:defRPr/>
            </a:lvl1pPr>
          </a:lstStyle>
          <a:p>
            <a:pPr>
              <a:defRPr/>
            </a:pPr>
            <a:fld id="{AEBD025C-C594-4B8B-B425-63B2285E2257}" type="slidenum">
              <a:rPr lang="en-US"/>
              <a:pPr>
                <a:defRPr/>
              </a:pPr>
              <a:t>‹#›</a:t>
            </a:fld>
            <a:endParaRPr lang="en-US" dirty="0"/>
          </a:p>
        </p:txBody>
      </p:sp>
    </p:spTree>
    <p:extLst>
      <p:ext uri="{BB962C8B-B14F-4D97-AF65-F5344CB8AC3E}">
        <p14:creationId xmlns:p14="http://schemas.microsoft.com/office/powerpoint/2010/main" val="3616616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628B16B5-72D8-42BF-A45E-8F1122987CF2}"/>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1F18FBF8-693C-4003-A537-ED716E3BF143}"/>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 name="Straight Connector 7">
              <a:extLst>
                <a:ext uri="{FF2B5EF4-FFF2-40B4-BE49-F238E27FC236}">
                  <a16:creationId xmlns:a16="http://schemas.microsoft.com/office/drawing/2014/main" id="{DC756ADE-3A14-47F8-8677-231F92294164}"/>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8953889-8AE6-4364-8D8C-5DEA93F04049}"/>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A87618B0-9EF7-4CA8-9DF6-C71EECC07402}"/>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Freeform 10">
              <a:extLst>
                <a:ext uri="{FF2B5EF4-FFF2-40B4-BE49-F238E27FC236}">
                  <a16:creationId xmlns:a16="http://schemas.microsoft.com/office/drawing/2014/main" id="{9A7654C2-FFAE-46DF-8925-8AC0262F73FF}"/>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11">
              <a:extLst>
                <a:ext uri="{FF2B5EF4-FFF2-40B4-BE49-F238E27FC236}">
                  <a16:creationId xmlns:a16="http://schemas.microsoft.com/office/drawing/2014/main" id="{B953589D-CC73-4A87-A84F-648213388047}"/>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Freeform 12">
              <a:extLst>
                <a:ext uri="{FF2B5EF4-FFF2-40B4-BE49-F238E27FC236}">
                  <a16:creationId xmlns:a16="http://schemas.microsoft.com/office/drawing/2014/main" id="{E5F9B2CC-2860-4BC3-94BF-4ECF391CABEC}"/>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13">
              <a:extLst>
                <a:ext uri="{FF2B5EF4-FFF2-40B4-BE49-F238E27FC236}">
                  <a16:creationId xmlns:a16="http://schemas.microsoft.com/office/drawing/2014/main" id="{75D9DE5B-2707-4EC2-ACF5-236B145D3C5B}"/>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14">
              <a:extLst>
                <a:ext uri="{FF2B5EF4-FFF2-40B4-BE49-F238E27FC236}">
                  <a16:creationId xmlns:a16="http://schemas.microsoft.com/office/drawing/2014/main" id="{764F30F2-673A-4F03-B649-377380ECE548}"/>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15">
              <a:extLst>
                <a:ext uri="{FF2B5EF4-FFF2-40B4-BE49-F238E27FC236}">
                  <a16:creationId xmlns:a16="http://schemas.microsoft.com/office/drawing/2014/main" id="{40DC99A6-D434-415B-9348-7F8F70DFD5E2}"/>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027" name="Title Placeholder 1">
            <a:extLst>
              <a:ext uri="{FF2B5EF4-FFF2-40B4-BE49-F238E27FC236}">
                <a16:creationId xmlns:a16="http://schemas.microsoft.com/office/drawing/2014/main" id="{8EC70696-40E8-47B8-9F72-00EFCAA4A9A3}"/>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A1B9EF7B-7F32-4918-9058-19F1AB5367C9}"/>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AE98948-351F-43F6-8026-55EED4562B12}"/>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3B02EE22-037F-4C8C-A5AE-BEBB2FB78AAB}" type="datetimeFigureOut">
              <a:rPr lang="en-US"/>
              <a:pPr>
                <a:defRPr/>
              </a:pPr>
              <a:t>10/17/2025</a:t>
            </a:fld>
            <a:endParaRPr lang="en-US" dirty="0"/>
          </a:p>
        </p:txBody>
      </p:sp>
      <p:sp>
        <p:nvSpPr>
          <p:cNvPr id="5" name="Footer Placeholder 4">
            <a:extLst>
              <a:ext uri="{FF2B5EF4-FFF2-40B4-BE49-F238E27FC236}">
                <a16:creationId xmlns:a16="http://schemas.microsoft.com/office/drawing/2014/main" id="{69A7B2E7-564C-4BE7-B688-C525048CEBD9}"/>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2D2A99F-CC07-471C-9C3D-BE04325AA65E}"/>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4274726C-DD6E-4BFD-9275-308868835E4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72"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73" r:id="rId11"/>
    <p:sldLayoutId id="2147483868" r:id="rId12"/>
    <p:sldLayoutId id="2147483874" r:id="rId13"/>
    <p:sldLayoutId id="2147483869" r:id="rId14"/>
    <p:sldLayoutId id="2147483870" r:id="rId15"/>
    <p:sldLayoutId id="2147483871"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turtlebot.com/" TargetMode="External"/><Relationship Id="rId2" Type="http://schemas.openxmlformats.org/officeDocument/2006/relationships/hyperlink" Target="https://www.amazon.com/Astro-Household-robot-for-home/dp/B094XD5ZW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027" y="2051645"/>
            <a:ext cx="7136458" cy="1455737"/>
          </a:xfrm>
        </p:spPr>
        <p:txBody>
          <a:bodyPr/>
          <a:lstStyle/>
          <a:p>
            <a:pPr>
              <a:defRPr sz="2000"/>
            </a:pPr>
            <a:r>
              <a:rPr lang="en-US" sz="2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RoomRover</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Smart IoT Based Navigation</a:t>
            </a:r>
          </a:p>
        </p:txBody>
      </p:sp>
      <p:sp>
        <p:nvSpPr>
          <p:cNvPr id="3" name="Content Placeholder 2"/>
          <p:cNvSpPr>
            <a:spLocks noGrp="1"/>
          </p:cNvSpPr>
          <p:nvPr>
            <p:ph idx="1"/>
          </p:nvPr>
        </p:nvSpPr>
        <p:spPr>
          <a:xfrm>
            <a:off x="653824" y="2627709"/>
            <a:ext cx="6997700" cy="4278313"/>
          </a:xfrm>
        </p:spPr>
        <p:txBody>
          <a:bodyPr/>
          <a:lstStyle/>
          <a:p>
            <a:endParaRPr dirty="0"/>
          </a:p>
          <a:p>
            <a:pPr marL="0" indent="0" algn="l">
              <a:buNone/>
              <a:defRPr sz="2000"/>
            </a:pPr>
            <a:r>
              <a:rPr b="1" dirty="0">
                <a:latin typeface="Times New Roman" panose="02020603050405020304" pitchFamily="18" charset="0"/>
                <a:cs typeface="Times New Roman" panose="02020603050405020304" pitchFamily="18" charset="0"/>
              </a:rPr>
              <a:t>Team Members:</a:t>
            </a:r>
          </a:p>
          <a:p>
            <a:pPr algn="l">
              <a:defRPr sz="2000"/>
            </a:pPr>
            <a:r>
              <a:rPr dirty="0">
                <a:latin typeface="Times New Roman" panose="02020603050405020304" pitchFamily="18" charset="0"/>
                <a:cs typeface="Times New Roman" panose="02020603050405020304" pitchFamily="18" charset="0"/>
              </a:rPr>
              <a:t>Chinmay Sawant – </a:t>
            </a:r>
            <a:r>
              <a:rPr lang="en-IN" dirty="0">
                <a:latin typeface="Times New Roman" panose="02020603050405020304" pitchFamily="18" charset="0"/>
                <a:cs typeface="Times New Roman" panose="02020603050405020304" pitchFamily="18" charset="0"/>
              </a:rPr>
              <a:t>22106017</a:t>
            </a:r>
            <a:endParaRPr dirty="0">
              <a:latin typeface="Times New Roman" panose="02020603050405020304" pitchFamily="18" charset="0"/>
              <a:cs typeface="Times New Roman" panose="02020603050405020304" pitchFamily="18" charset="0"/>
            </a:endParaRPr>
          </a:p>
          <a:p>
            <a:pPr algn="l">
              <a:defRPr sz="2000"/>
            </a:pPr>
            <a:r>
              <a:rPr dirty="0">
                <a:latin typeface="Times New Roman" panose="02020603050405020304" pitchFamily="18" charset="0"/>
                <a:cs typeface="Times New Roman" panose="02020603050405020304" pitchFamily="18" charset="0"/>
              </a:rPr>
              <a:t>Arya Raut – </a:t>
            </a:r>
            <a:r>
              <a:rPr lang="en-IN" dirty="0">
                <a:latin typeface="Times New Roman" panose="02020603050405020304" pitchFamily="18" charset="0"/>
                <a:cs typeface="Times New Roman" panose="02020603050405020304" pitchFamily="18" charset="0"/>
              </a:rPr>
              <a:t>22106075</a:t>
            </a:r>
            <a:endParaRPr dirty="0">
              <a:latin typeface="Times New Roman" panose="02020603050405020304" pitchFamily="18" charset="0"/>
              <a:cs typeface="Times New Roman" panose="02020603050405020304" pitchFamily="18" charset="0"/>
            </a:endParaRPr>
          </a:p>
          <a:p>
            <a:pPr algn="l">
              <a:defRPr sz="2000"/>
            </a:pPr>
            <a:r>
              <a:rPr dirty="0">
                <a:latin typeface="Times New Roman" panose="02020603050405020304" pitchFamily="18" charset="0"/>
                <a:cs typeface="Times New Roman" panose="02020603050405020304" pitchFamily="18" charset="0"/>
              </a:rPr>
              <a:t>Gauri </a:t>
            </a:r>
            <a:r>
              <a:rPr dirty="0" err="1">
                <a:latin typeface="Times New Roman" panose="02020603050405020304" pitchFamily="18" charset="0"/>
                <a:cs typeface="Times New Roman" panose="02020603050405020304" pitchFamily="18" charset="0"/>
              </a:rPr>
              <a:t>Ramekar</a:t>
            </a:r>
            <a:r>
              <a:rPr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22106068</a:t>
            </a:r>
            <a:endParaRPr dirty="0">
              <a:latin typeface="Times New Roman" panose="02020603050405020304" pitchFamily="18" charset="0"/>
              <a:cs typeface="Times New Roman" panose="02020603050405020304" pitchFamily="18" charset="0"/>
            </a:endParaRPr>
          </a:p>
          <a:p>
            <a:pPr algn="l">
              <a:defRPr sz="2000"/>
            </a:pPr>
            <a:r>
              <a:rPr dirty="0">
                <a:latin typeface="Times New Roman" panose="02020603050405020304" pitchFamily="18" charset="0"/>
                <a:cs typeface="Times New Roman" panose="02020603050405020304" pitchFamily="18" charset="0"/>
              </a:rPr>
              <a:t>Maitreyi Phadke –</a:t>
            </a:r>
            <a:r>
              <a:rPr lang="en-IN" dirty="0">
                <a:latin typeface="Times New Roman" panose="02020603050405020304" pitchFamily="18" charset="0"/>
                <a:cs typeface="Times New Roman" panose="02020603050405020304" pitchFamily="18" charset="0"/>
              </a:rPr>
              <a:t> 221060</a:t>
            </a:r>
            <a:endParaRPr dirty="0">
              <a:latin typeface="Times New Roman" panose="02020603050405020304" pitchFamily="18" charset="0"/>
              <a:cs typeface="Times New Roman" panose="02020603050405020304" pitchFamily="18" charset="0"/>
            </a:endParaRPr>
          </a:p>
          <a:p>
            <a:pPr marL="0" indent="0" algn="ctr">
              <a:buNone/>
              <a:defRPr sz="2000"/>
            </a:pPr>
            <a:endParaRPr lang="en-US" dirty="0"/>
          </a:p>
          <a:p>
            <a:pPr marL="0" indent="0" algn="ctr">
              <a:buNone/>
              <a:defRPr sz="2000"/>
            </a:pPr>
            <a:endParaRPr lang="en-IN" dirty="0"/>
          </a:p>
          <a:p>
            <a:pPr marL="0" indent="0" algn="ctr">
              <a:buNone/>
              <a:defRPr sz="2000"/>
            </a:pPr>
            <a:r>
              <a:rPr b="1" dirty="0">
                <a:latin typeface="Times New Roman" panose="02020603050405020304" pitchFamily="18" charset="0"/>
                <a:cs typeface="Times New Roman" panose="02020603050405020304" pitchFamily="18" charset="0"/>
              </a:rPr>
              <a:t>Guide: Prof. Sayali Badhan</a:t>
            </a:r>
          </a:p>
          <a:p>
            <a:pPr marL="0" indent="0" algn="ctr">
              <a:buNone/>
              <a:defRPr sz="2000"/>
            </a:pPr>
            <a:r>
              <a:rPr b="1" dirty="0">
                <a:latin typeface="Times New Roman" panose="02020603050405020304" pitchFamily="18" charset="0"/>
                <a:cs typeface="Times New Roman" panose="02020603050405020304" pitchFamily="18" charset="0"/>
              </a:rPr>
              <a:t>Dept. of CSE (AI &amp; ML)</a:t>
            </a:r>
          </a:p>
          <a:p>
            <a:pPr marL="0" indent="0" algn="ctr">
              <a:buNone/>
              <a:defRPr sz="2000"/>
            </a:pPr>
            <a:r>
              <a:rPr b="1" dirty="0">
                <a:latin typeface="Times New Roman" panose="02020603050405020304" pitchFamily="18" charset="0"/>
                <a:cs typeface="Times New Roman" panose="02020603050405020304" pitchFamily="18" charset="0"/>
              </a:rPr>
              <a:t>Academic Year: 2025–26</a:t>
            </a:r>
          </a:p>
        </p:txBody>
      </p:sp>
      <p:pic>
        <p:nvPicPr>
          <p:cNvPr id="8196" name="Picture 3">
            <a:extLst>
              <a:ext uri="{FF2B5EF4-FFF2-40B4-BE49-F238E27FC236}">
                <a16:creationId xmlns:a16="http://schemas.microsoft.com/office/drawing/2014/main" id="{C668E77C-014A-B8BD-9EB7-2FAF572E9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60" y="159048"/>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dirty="0">
                <a:latin typeface="Times New Roman" panose="02020603050405020304" pitchFamily="18" charset="0"/>
                <a:cs typeface="Times New Roman" panose="02020603050405020304" pitchFamily="18" charset="0"/>
              </a:rPr>
              <a:t>Outline</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5816" y="899517"/>
            <a:ext cx="6997700" cy="4278313"/>
          </a:xfrm>
        </p:spPr>
        <p:txBody>
          <a:bodyPr/>
          <a:lstStyle/>
          <a:p>
            <a:endParaRPr dirty="0">
              <a:latin typeface="Times New Roman" panose="02020603050405020304" pitchFamily="18" charset="0"/>
              <a:cs typeface="Times New Roman" panose="02020603050405020304" pitchFamily="18" charset="0"/>
            </a:endParaRPr>
          </a:p>
          <a:p>
            <a:pPr algn="l">
              <a:defRPr sz="2000"/>
            </a:pPr>
            <a:r>
              <a:rPr dirty="0">
                <a:latin typeface="Times New Roman" panose="02020603050405020304" pitchFamily="18" charset="0"/>
                <a:cs typeface="Times New Roman" panose="02020603050405020304" pitchFamily="18" charset="0"/>
              </a:rPr>
              <a:t>Introduction</a:t>
            </a:r>
          </a:p>
          <a:p>
            <a:pPr algn="l">
              <a:defRPr sz="2000"/>
            </a:pPr>
            <a:r>
              <a:rPr dirty="0">
                <a:latin typeface="Times New Roman" panose="02020603050405020304" pitchFamily="18" charset="0"/>
                <a:cs typeface="Times New Roman" panose="02020603050405020304" pitchFamily="18" charset="0"/>
              </a:rPr>
              <a:t>Literature Survey</a:t>
            </a:r>
          </a:p>
          <a:p>
            <a:pPr algn="l">
              <a:defRPr sz="2000"/>
            </a:pPr>
            <a:r>
              <a:rPr dirty="0">
                <a:latin typeface="Times New Roman" panose="02020603050405020304" pitchFamily="18" charset="0"/>
                <a:cs typeface="Times New Roman" panose="02020603050405020304" pitchFamily="18" charset="0"/>
              </a:rPr>
              <a:t>Limitations of Existing Systems</a:t>
            </a:r>
          </a:p>
          <a:p>
            <a:pPr algn="l">
              <a:defRPr sz="2000"/>
            </a:pPr>
            <a:r>
              <a:rPr dirty="0">
                <a:latin typeface="Times New Roman" panose="02020603050405020304" pitchFamily="18" charset="0"/>
                <a:cs typeface="Times New Roman" panose="02020603050405020304" pitchFamily="18" charset="0"/>
              </a:rPr>
              <a:t>Problem Statement &amp; Objectives</a:t>
            </a:r>
          </a:p>
          <a:p>
            <a:pPr algn="l">
              <a:defRPr sz="2000"/>
            </a:pPr>
            <a:r>
              <a:rPr dirty="0">
                <a:latin typeface="Times New Roman" panose="02020603050405020304" pitchFamily="18" charset="0"/>
                <a:cs typeface="Times New Roman" panose="02020603050405020304" pitchFamily="18" charset="0"/>
              </a:rPr>
              <a:t>Proposed System &amp; Design</a:t>
            </a:r>
          </a:p>
          <a:p>
            <a:pPr algn="l">
              <a:defRPr sz="2000"/>
            </a:pPr>
            <a:r>
              <a:rPr dirty="0">
                <a:latin typeface="Times New Roman" panose="02020603050405020304" pitchFamily="18" charset="0"/>
                <a:cs typeface="Times New Roman" panose="02020603050405020304" pitchFamily="18" charset="0"/>
              </a:rPr>
              <a:t>Tools and Technologies</a:t>
            </a:r>
          </a:p>
          <a:p>
            <a:pPr algn="l">
              <a:defRPr sz="2000"/>
            </a:pPr>
            <a:r>
              <a:rPr dirty="0">
                <a:latin typeface="Times New Roman" panose="02020603050405020304" pitchFamily="18" charset="0"/>
                <a:cs typeface="Times New Roman" panose="02020603050405020304" pitchFamily="18" charset="0"/>
              </a:rPr>
              <a:t>Implementation (Demo Video + Screenshots)</a:t>
            </a:r>
          </a:p>
          <a:p>
            <a:pPr algn="l">
              <a:defRPr sz="2000"/>
            </a:pPr>
            <a:r>
              <a:rPr dirty="0">
                <a:latin typeface="Times New Roman" panose="02020603050405020304" pitchFamily="18" charset="0"/>
                <a:cs typeface="Times New Roman" panose="02020603050405020304" pitchFamily="18" charset="0"/>
              </a:rPr>
              <a:t>Experimental Setup</a:t>
            </a:r>
          </a:p>
          <a:p>
            <a:pPr algn="l">
              <a:defRPr sz="2000"/>
            </a:pPr>
            <a:r>
              <a:rPr dirty="0">
                <a:latin typeface="Times New Roman" panose="02020603050405020304" pitchFamily="18" charset="0"/>
                <a:cs typeface="Times New Roman" panose="02020603050405020304" pitchFamily="18" charset="0"/>
              </a:rPr>
              <a:t>Expected Outcomes</a:t>
            </a:r>
          </a:p>
          <a:p>
            <a:pPr algn="l">
              <a:defRPr sz="2000"/>
            </a:pPr>
            <a:r>
              <a:rPr dirty="0">
                <a:latin typeface="Times New Roman" panose="02020603050405020304" pitchFamily="18" charset="0"/>
                <a:cs typeface="Times New Roman" panose="02020603050405020304" pitchFamily="18" charset="0"/>
              </a:rPr>
              <a:t>Goal Alignment (UN SDGs)</a:t>
            </a:r>
          </a:p>
          <a:p>
            <a:pPr algn="l">
              <a:defRPr sz="2000"/>
            </a:pPr>
            <a:r>
              <a:rPr dirty="0">
                <a:latin typeface="Times New Roman" panose="02020603050405020304" pitchFamily="18" charset="0"/>
                <a:cs typeface="Times New Roman" panose="02020603050405020304" pitchFamily="18" charset="0"/>
              </a:rPr>
              <a:t>Conclusion &amp; Future Work</a:t>
            </a:r>
          </a:p>
          <a:p>
            <a:pPr algn="l">
              <a:defRPr sz="2000"/>
            </a:pPr>
            <a:r>
              <a:rPr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535" y="639614"/>
            <a:ext cx="6997700" cy="1455737"/>
          </a:xfrm>
        </p:spPr>
        <p:txBody>
          <a:bodyPr/>
          <a:lstStyle/>
          <a:p>
            <a:r>
              <a:rP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575816" y="2123653"/>
            <a:ext cx="6997700" cy="4278313"/>
          </a:xfrm>
        </p:spPr>
        <p:txBody>
          <a:bodyPr/>
          <a:lstStyle/>
          <a:p>
            <a:pPr marL="0" indent="0" algn="just">
              <a:buNone/>
            </a:pPr>
            <a:r>
              <a:rPr lang="en-US" dirty="0"/>
              <a:t>Large institutions such as universities, hospitals, and corporate buildings often have complex layouts, making it challenging for visitors and even staff to find their way efficiently. Traditional navigation aids like maps, signboards, or mobile apps often fall short, especially in crowded or dynamic environments, leading to confusion, delays, and sometimes safety risks. This challenge motivated us to design a smart system that combines </a:t>
            </a:r>
            <a:r>
              <a:rPr lang="en-US" b="1" dirty="0"/>
              <a:t>efficient guidance with real-time safety monitoring</a:t>
            </a:r>
            <a:r>
              <a:rPr lang="en-US" dirty="0"/>
              <a:t>, providing users with a seamless and secure navigation experience within large facilities.</a:t>
            </a:r>
            <a:r>
              <a:rPr lang="en-US" dirty="0">
                <a:latin typeface="Times New Roman" panose="02020603050405020304" pitchFamily="18" charset="0"/>
                <a:cs typeface="Times New Roman" panose="02020603050405020304" pitchFamily="18" charset="0"/>
              </a:rPr>
              <a:t>.</a:t>
            </a:r>
          </a:p>
          <a:p>
            <a:pPr marL="0" indent="0" algn="just">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17" y="459680"/>
            <a:ext cx="6997700" cy="1455737"/>
          </a:xfrm>
        </p:spPr>
        <p:txBody>
          <a:bodyPr/>
          <a:lstStyle/>
          <a:p>
            <a:r>
              <a:rP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 Survey</a:t>
            </a:r>
          </a:p>
        </p:txBody>
      </p:sp>
      <p:pic>
        <p:nvPicPr>
          <p:cNvPr id="6" name="Content Placeholder 5" descr="A table of informational data&#10;&#10;AI-generated content may be incorrect.">
            <a:extLst>
              <a:ext uri="{FF2B5EF4-FFF2-40B4-BE49-F238E27FC236}">
                <a16:creationId xmlns:a16="http://schemas.microsoft.com/office/drawing/2014/main" id="{1B7F819A-EF06-C9F1-6DC4-27E9405AED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5817" y="1187549"/>
            <a:ext cx="7064488" cy="5976663"/>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16" y="717872"/>
            <a:ext cx="6997700" cy="1455737"/>
          </a:xfrm>
        </p:spPr>
        <p:txBody>
          <a:bodyPr/>
          <a:lstStyle/>
          <a:p>
            <a:r>
              <a:rP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Limitations of Existing Systems</a:t>
            </a:r>
          </a:p>
        </p:txBody>
      </p:sp>
      <p:sp>
        <p:nvSpPr>
          <p:cNvPr id="3" name="Content Placeholder 2"/>
          <p:cNvSpPr>
            <a:spLocks noGrp="1"/>
          </p:cNvSpPr>
          <p:nvPr>
            <p:ph idx="1"/>
          </p:nvPr>
        </p:nvSpPr>
        <p:spPr>
          <a:xfrm>
            <a:off x="671513" y="1835621"/>
            <a:ext cx="6997700" cy="4278313"/>
          </a:xfrm>
        </p:spPr>
        <p:txBody>
          <a:bodyPr/>
          <a:lstStyle/>
          <a:p>
            <a:pPr marL="0" indent="0" algn="l">
              <a:buNone/>
              <a:defRPr sz="2000"/>
            </a:pPr>
            <a:endParaRPr lang="en-US" sz="2000" dirty="0">
              <a:latin typeface="Times New Roman" panose="02020603050405020304" pitchFamily="18" charset="0"/>
              <a:cs typeface="Times New Roman" panose="02020603050405020304" pitchFamily="18" charset="0"/>
            </a:endParaRPr>
          </a:p>
          <a:p>
            <a:pPr algn="l">
              <a:defRPr sz="2000"/>
            </a:pPr>
            <a:r>
              <a:rPr lang="en-US" sz="2000" dirty="0">
                <a:latin typeface="Times New Roman" panose="02020603050405020304" pitchFamily="18" charset="0"/>
                <a:cs typeface="Times New Roman" panose="02020603050405020304" pitchFamily="18" charset="0"/>
              </a:rPr>
              <a:t>Limited or no real-time emergency response.</a:t>
            </a:r>
          </a:p>
          <a:p>
            <a:pPr algn="l">
              <a:defRPr sz="2000"/>
            </a:pPr>
            <a:r>
              <a:rPr lang="en-US" sz="2000" dirty="0">
                <a:latin typeface="Times New Roman" panose="02020603050405020304" pitchFamily="18" charset="0"/>
                <a:cs typeface="Times New Roman" panose="02020603050405020304" pitchFamily="18" charset="0"/>
              </a:rPr>
              <a:t>High cost of deployment.</a:t>
            </a:r>
          </a:p>
          <a:p>
            <a:pPr algn="l">
              <a:defRPr sz="2000"/>
            </a:pPr>
            <a:r>
              <a:rPr lang="en-US" sz="2000" dirty="0">
                <a:latin typeface="Times New Roman" panose="02020603050405020304" pitchFamily="18" charset="0"/>
                <a:cs typeface="Times New Roman" panose="02020603050405020304" pitchFamily="18" charset="0"/>
              </a:rPr>
              <a:t>Lack of adaptability in dynamic indoor spaces.</a:t>
            </a:r>
          </a:p>
          <a:p>
            <a:pPr>
              <a:defRPr sz="2000"/>
            </a:pPr>
            <a:r>
              <a:rPr lang="en-US" sz="2000" dirty="0">
                <a:latin typeface="Times New Roman" panose="02020603050405020304" pitchFamily="18" charset="0"/>
                <a:cs typeface="Times New Roman" panose="02020603050405020304" pitchFamily="18" charset="0"/>
              </a:rPr>
              <a:t>Amazon Astro – Works as a smart home companion but lacks emergency response features (no smoke detection or SOS).</a:t>
            </a:r>
          </a:p>
          <a:p>
            <a:pPr>
              <a:defRPr sz="2000"/>
            </a:pPr>
            <a:r>
              <a:rPr lang="en-US" sz="2000" dirty="0">
                <a:latin typeface="Times New Roman" panose="02020603050405020304" pitchFamily="18" charset="0"/>
                <a:cs typeface="Times New Roman" panose="02020603050405020304" pitchFamily="18" charset="0"/>
              </a:rPr>
              <a:t>TurtleBot – Excellent for research and prototyping, but not designed for user-friendly, real-world navigation.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16" y="1403573"/>
            <a:ext cx="6997700" cy="1455737"/>
          </a:xfrm>
        </p:spPr>
        <p:txBody>
          <a:bodyPr/>
          <a:lstStyle/>
          <a:p>
            <a:r>
              <a:rPr sz="44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pPr marL="0" indent="0" algn="just">
              <a:buNone/>
            </a:pPr>
            <a:r>
              <a:rPr lang="en-US" dirty="0"/>
              <a:t>In large indoor environments such as colleges, hospitals, and corporate offices, visitors and even staff often face difficulties navigating complex layouts and locating specific rooms or departments. Traditional solutions like maps, signboards, or mobile apps are often insufficient, especially in crowded or dynamic situations. Moreover, during emergencies such as fires, medical incidents, or other hazards, immediate guidance and assistance are usually unavailable, putting users at risk. There is a need for an intelligent indoor robotic system that can </a:t>
            </a:r>
            <a:r>
              <a:rPr lang="en-US" b="1" dirty="0"/>
              <a:t>guide users and provide real-time emergency support</a:t>
            </a:r>
            <a:r>
              <a:rPr lang="en-US" dirty="0"/>
              <a:t>, ensuring both </a:t>
            </a:r>
            <a:r>
              <a:rPr lang="en-US" b="1" dirty="0"/>
              <a:t>convenience and safety</a:t>
            </a:r>
            <a:r>
              <a:rPr lang="en-US" dirty="0"/>
              <a:t> in a single platform.</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808" y="467469"/>
            <a:ext cx="6997700" cy="1455737"/>
          </a:xfrm>
        </p:spPr>
        <p:txBody>
          <a:bodyPr/>
          <a:lstStyle/>
          <a:p>
            <a:r>
              <a:rP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3808" y="1691605"/>
            <a:ext cx="6997700" cy="4278313"/>
          </a:xfrm>
        </p:spPr>
        <p:txBody>
          <a:bodyPr/>
          <a:lstStyle/>
          <a:p>
            <a:pPr marL="0" indent="0" defTabSz="914400">
              <a:spcBef>
                <a:spcPct val="20000"/>
              </a:spcBef>
              <a:buNone/>
            </a:pPr>
            <a:endParaRPr lang="en-US" dirty="0"/>
          </a:p>
          <a:p>
            <a:pPr marL="0" indent="0" defTabSz="914400">
              <a:spcBef>
                <a:spcPct val="20000"/>
              </a:spcBef>
              <a:buNone/>
            </a:pPr>
            <a:endParaRPr lang="en-US" sz="2000" dirty="0">
              <a:latin typeface="Times New Roman" panose="02020603050405020304" pitchFamily="18" charset="0"/>
              <a:cs typeface="Times New Roman" panose="02020603050405020304" pitchFamily="18" charset="0"/>
            </a:endParaRPr>
          </a:p>
          <a:p>
            <a:pPr marL="0" indent="0" defTabSz="914400">
              <a:spcBef>
                <a:spcPct val="20000"/>
              </a:spcBef>
            </a:pPr>
            <a:r>
              <a:rPr lang="en-US" sz="2000" dirty="0">
                <a:latin typeface="Times New Roman" panose="02020603050405020304" pitchFamily="18" charset="0"/>
                <a:cs typeface="Times New Roman" panose="02020603050405020304" pitchFamily="18" charset="0"/>
              </a:rPr>
              <a:t>  To develop a smart indoor robot capable of navigation and assistance .</a:t>
            </a:r>
          </a:p>
          <a:p>
            <a:pPr marL="0" indent="0" defTabSz="914400">
              <a:spcBef>
                <a:spcPct val="20000"/>
              </a:spcBef>
              <a:buNone/>
            </a:pPr>
            <a:endParaRPr lang="en-US" sz="2000" dirty="0">
              <a:latin typeface="Times New Roman" panose="02020603050405020304" pitchFamily="18" charset="0"/>
              <a:cs typeface="Times New Roman" panose="02020603050405020304" pitchFamily="18" charset="0"/>
            </a:endParaRPr>
          </a:p>
          <a:p>
            <a:pPr marL="0" indent="0" defTabSz="914400">
              <a:spcBef>
                <a:spcPct val="20000"/>
              </a:spcBef>
            </a:pPr>
            <a:r>
              <a:rPr lang="en-US" sz="2000" dirty="0">
                <a:latin typeface="Times New Roman" panose="02020603050405020304" pitchFamily="18" charset="0"/>
                <a:cs typeface="Times New Roman" panose="02020603050405020304" pitchFamily="18" charset="0"/>
              </a:rPr>
              <a:t>  To enable voice-based interaction for easier communication          </a:t>
            </a:r>
          </a:p>
          <a:p>
            <a:pPr marL="0" indent="0" defTabSz="914400">
              <a:spcBef>
                <a:spcPct val="20000"/>
              </a:spcBef>
              <a:buNone/>
            </a:pPr>
            <a:r>
              <a:rPr lang="en-US" sz="2000" dirty="0">
                <a:latin typeface="Times New Roman" panose="02020603050405020304" pitchFamily="18" charset="0"/>
                <a:cs typeface="Times New Roman" panose="02020603050405020304" pitchFamily="18" charset="0"/>
              </a:rPr>
              <a:t>     with users. </a:t>
            </a:r>
          </a:p>
          <a:p>
            <a:pPr marL="0" indent="0" defTabSz="914400">
              <a:spcBef>
                <a:spcPct val="20000"/>
              </a:spcBef>
              <a:buNone/>
            </a:pPr>
            <a:r>
              <a:rPr lang="en-US" sz="2000" dirty="0">
                <a:latin typeface="Times New Roman" panose="02020603050405020304" pitchFamily="18" charset="0"/>
                <a:cs typeface="Times New Roman" panose="02020603050405020304" pitchFamily="18" charset="0"/>
              </a:rPr>
              <a:t>  </a:t>
            </a:r>
          </a:p>
          <a:p>
            <a:pPr marL="0" indent="0" defTabSz="914400">
              <a:spcBef>
                <a:spcPct val="20000"/>
              </a:spcBef>
            </a:pPr>
            <a:r>
              <a:rPr lang="en-US" sz="2000" dirty="0">
                <a:latin typeface="Times New Roman" panose="02020603050405020304" pitchFamily="18" charset="0"/>
                <a:cs typeface="Times New Roman" panose="02020603050405020304" pitchFamily="18" charset="0"/>
              </a:rPr>
              <a:t>To respond to emergencies by detecting smoke and fire.</a:t>
            </a:r>
          </a:p>
          <a:p>
            <a:pPr marL="0" indent="0" defTabSz="914400">
              <a:spcBef>
                <a:spcPct val="20000"/>
              </a:spcBef>
            </a:pPr>
            <a:endParaRPr lang="en-US" sz="2000" dirty="0">
              <a:latin typeface="Times New Roman" panose="02020603050405020304" pitchFamily="18" charset="0"/>
              <a:cs typeface="Times New Roman" panose="02020603050405020304" pitchFamily="18" charset="0"/>
            </a:endParaRPr>
          </a:p>
          <a:p>
            <a:pPr marL="0" indent="0" defTabSz="914400">
              <a:spcBef>
                <a:spcPct val="20000"/>
              </a:spcBef>
            </a:pPr>
            <a:r>
              <a:rPr lang="en-US" sz="2000" dirty="0">
                <a:latin typeface="Times New Roman" panose="02020603050405020304" pitchFamily="18" charset="0"/>
                <a:cs typeface="Times New Roman" panose="02020603050405020304" pitchFamily="18" charset="0"/>
              </a:rPr>
              <a:t>  To create a system that is adaptive, intelligent, and user- </a:t>
            </a:r>
          </a:p>
          <a:p>
            <a:pPr marL="0" indent="0" defTabSz="914400">
              <a:spcBef>
                <a:spcPct val="20000"/>
              </a:spcBef>
              <a:buNone/>
            </a:pPr>
            <a:r>
              <a:rPr lang="en-US" sz="2000" dirty="0">
                <a:latin typeface="Times New Roman" panose="02020603050405020304" pitchFamily="18" charset="0"/>
                <a:cs typeface="Times New Roman" panose="02020603050405020304" pitchFamily="18" charset="0"/>
              </a:rPr>
              <a:t>     friendly, enhancing the experience of navigating large </a:t>
            </a:r>
            <a:r>
              <a:rPr lang="en-US" altLang="en-US" sz="2000" dirty="0">
                <a:solidFill>
                  <a:srgbClr val="000000"/>
                </a:solidFill>
                <a:latin typeface="Times New Roman" panose="02020603050405020304" pitchFamily="18" charset="0"/>
                <a:cs typeface="Times New Roman" panose="02020603050405020304" pitchFamily="18" charset="0"/>
              </a:rPr>
              <a:t>buildings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Proposed System</a:t>
            </a:r>
          </a:p>
        </p:txBody>
      </p:sp>
      <p:sp>
        <p:nvSpPr>
          <p:cNvPr id="4" name="Content Placeholder 3">
            <a:extLst>
              <a:ext uri="{FF2B5EF4-FFF2-40B4-BE49-F238E27FC236}">
                <a16:creationId xmlns:a16="http://schemas.microsoft.com/office/drawing/2014/main" id="{C471651F-7489-4137-341B-240E5F07112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E68B519-0A55-4363-391A-0134D1578139}"/>
              </a:ext>
            </a:extLst>
          </p:cNvPr>
          <p:cNvPicPr>
            <a:picLocks noChangeAspect="1"/>
          </p:cNvPicPr>
          <p:nvPr/>
        </p:nvPicPr>
        <p:blipFill>
          <a:blip r:embed="rId2"/>
          <a:stretch>
            <a:fillRect/>
          </a:stretch>
        </p:blipFill>
        <p:spPr>
          <a:xfrm>
            <a:off x="63433" y="1835621"/>
            <a:ext cx="9953757" cy="45069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784" y="459680"/>
            <a:ext cx="6997700" cy="1455737"/>
          </a:xfrm>
        </p:spPr>
        <p:txBody>
          <a:bodyPr/>
          <a:lstStyle/>
          <a:p>
            <a:r>
              <a:rP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Tools &amp; Technologies</a:t>
            </a:r>
          </a:p>
        </p:txBody>
      </p:sp>
      <p:graphicFrame>
        <p:nvGraphicFramePr>
          <p:cNvPr id="8" name="Content Placeholder 7">
            <a:extLst>
              <a:ext uri="{FF2B5EF4-FFF2-40B4-BE49-F238E27FC236}">
                <a16:creationId xmlns:a16="http://schemas.microsoft.com/office/drawing/2014/main" id="{C65A4688-6CC3-A27E-9D6C-BD8C074CD3C2}"/>
              </a:ext>
            </a:extLst>
          </p:cNvPr>
          <p:cNvGraphicFramePr>
            <a:graphicFrameLocks noGrp="1"/>
          </p:cNvGraphicFramePr>
          <p:nvPr>
            <p:ph idx="1"/>
            <p:extLst>
              <p:ext uri="{D42A27DB-BD31-4B8C-83A1-F6EECF244321}">
                <p14:modId xmlns:p14="http://schemas.microsoft.com/office/powerpoint/2010/main" val="1198867198"/>
              </p:ext>
            </p:extLst>
          </p:nvPr>
        </p:nvGraphicFramePr>
        <p:xfrm>
          <a:off x="431800" y="1187549"/>
          <a:ext cx="7416825" cy="5969615"/>
        </p:xfrm>
        <a:graphic>
          <a:graphicData uri="http://schemas.openxmlformats.org/drawingml/2006/table">
            <a:tbl>
              <a:tblPr/>
              <a:tblGrid>
                <a:gridCol w="2472275">
                  <a:extLst>
                    <a:ext uri="{9D8B030D-6E8A-4147-A177-3AD203B41FA5}">
                      <a16:colId xmlns:a16="http://schemas.microsoft.com/office/drawing/2014/main" val="311672928"/>
                    </a:ext>
                  </a:extLst>
                </a:gridCol>
                <a:gridCol w="2472275">
                  <a:extLst>
                    <a:ext uri="{9D8B030D-6E8A-4147-A177-3AD203B41FA5}">
                      <a16:colId xmlns:a16="http://schemas.microsoft.com/office/drawing/2014/main" val="1571408366"/>
                    </a:ext>
                  </a:extLst>
                </a:gridCol>
                <a:gridCol w="2472275">
                  <a:extLst>
                    <a:ext uri="{9D8B030D-6E8A-4147-A177-3AD203B41FA5}">
                      <a16:colId xmlns:a16="http://schemas.microsoft.com/office/drawing/2014/main" val="3926115230"/>
                    </a:ext>
                  </a:extLst>
                </a:gridCol>
              </a:tblGrid>
              <a:tr h="360040">
                <a:tc>
                  <a:txBody>
                    <a:bodyPr/>
                    <a:lstStyle/>
                    <a:p>
                      <a:pPr>
                        <a:buNone/>
                      </a:pPr>
                      <a:r>
                        <a:rPr lang="en-IN" sz="1800" b="1" dirty="0"/>
                        <a:t>        Category</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b="1" dirty="0"/>
                        <a:t>            Tools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b="1" dirty="0"/>
                        <a:t>         Purpose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5977147"/>
                  </a:ext>
                </a:extLst>
              </a:tr>
              <a:tr h="435823">
                <a:tc>
                  <a:txBody>
                    <a:bodyPr/>
                    <a:lstStyle/>
                    <a:p>
                      <a:pPr>
                        <a:buNone/>
                      </a:pPr>
                      <a:r>
                        <a:rPr lang="en-IN" sz="1400" b="1" dirty="0"/>
                        <a:t>Microcontroller &amp; Hardware</a:t>
                      </a:r>
                      <a:endParaRPr lang="en-IN" sz="140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ESP32</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dirty="0"/>
                        <a:t>Main controller: motors, sensors, Wi-Fi connectivity, Blynk integration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500636"/>
                  </a:ext>
                </a:extLst>
              </a:tr>
              <a:tr h="295909">
                <a:tc>
                  <a:txBody>
                    <a:bodyPr/>
                    <a:lstStyle/>
                    <a:p>
                      <a:pPr>
                        <a:buNone/>
                      </a:pPr>
                      <a:endParaRPr lang="en-IN" sz="105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L298N Motor Driver</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Controls left and right DC motors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6154643"/>
                  </a:ext>
                </a:extLst>
              </a:tr>
              <a:tr h="181038">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DC Motors (4x)</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Wheel movement for robot</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898995"/>
                  </a:ext>
                </a:extLst>
              </a:tr>
              <a:tr h="343414">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HC-SR04 Ultrasonic Sensor</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Obstacle detection, distance measurement</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3224708"/>
                  </a:ext>
                </a:extLst>
              </a:tr>
              <a:tr h="181038">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MQ2 Gas Sensor</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Smoke / gas detection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7080119"/>
                  </a:ext>
                </a:extLst>
              </a:tr>
              <a:tr h="181038">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Buzzer</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Alert for gas/fire detection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5431158"/>
                  </a:ext>
                </a:extLst>
              </a:tr>
              <a:tr h="295909">
                <a:tc>
                  <a:txBody>
                    <a:bodyPr/>
                    <a:lstStyle/>
                    <a:p>
                      <a:pPr>
                        <a:buNone/>
                      </a:pPr>
                      <a:endParaRPr lang="en-IN" sz="105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Battery (6–12V)</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Power source for motors and ESP32</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1279561"/>
                  </a:ext>
                </a:extLst>
              </a:tr>
              <a:tr h="181038">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Breadboard &amp; Jumper Wires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Connections and prototyping</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0937255"/>
                  </a:ext>
                </a:extLst>
              </a:tr>
              <a:tr h="281057">
                <a:tc>
                  <a:txBody>
                    <a:bodyPr/>
                    <a:lstStyle/>
                    <a:p>
                      <a:pPr>
                        <a:buNone/>
                      </a:pPr>
                      <a:endParaRPr lang="en-IN" sz="105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            </a:t>
                      </a:r>
                      <a:r>
                        <a:rPr lang="en-IN" sz="1800" dirty="0"/>
                        <a:t>Technologies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IN" sz="105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1888950"/>
                  </a:ext>
                </a:extLst>
              </a:tr>
              <a:tr h="295909">
                <a:tc>
                  <a:txBody>
                    <a:bodyPr/>
                    <a:lstStyle/>
                    <a:p>
                      <a:pPr>
                        <a:buNone/>
                      </a:pPr>
                      <a:r>
                        <a:rPr lang="en-IN" sz="1400" b="1" dirty="0"/>
                        <a:t>Software &amp; IDEs</a:t>
                      </a:r>
                      <a:endParaRPr lang="en-IN" sz="140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Arduino IDE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Writing and uploading ESP32 code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6652400"/>
                  </a:ext>
                </a:extLst>
              </a:tr>
              <a:tr h="343414">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Python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Speech recognition, fire detection, email/SMS alerts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201445"/>
                  </a:ext>
                </a:extLst>
              </a:tr>
              <a:tr h="181038">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dirty="0"/>
                        <a:t>Visual Studio Code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Python development</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2465974"/>
                  </a:ext>
                </a:extLst>
              </a:tr>
              <a:tr h="435823">
                <a:tc>
                  <a:txBody>
                    <a:bodyPr/>
                    <a:lstStyle/>
                    <a:p>
                      <a:pPr>
                        <a:buNone/>
                      </a:pPr>
                      <a:r>
                        <a:rPr lang="en-IN" sz="1400" b="1" dirty="0"/>
                        <a:t>Libraries / SDKs</a:t>
                      </a:r>
                      <a:endParaRPr lang="en-IN" sz="140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Blynk ESP32 SDK</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ESP32 connects and reads/writes to Blynk Realtime Database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274998"/>
                  </a:ext>
                </a:extLst>
              </a:tr>
              <a:tr h="343414">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Python Blynk SDK / HTTP API</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Python scripts send commands and alerts to Blynk DB</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939450"/>
                  </a:ext>
                </a:extLst>
              </a:tr>
              <a:tr h="295909">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SpeechRecognition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Converts microphone input to text</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145547"/>
                  </a:ext>
                </a:extLst>
              </a:tr>
              <a:tr h="295909">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PyAudio</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a:t>Microphone input for speech recognition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670355"/>
                  </a:ext>
                </a:extLst>
              </a:tr>
              <a:tr h="343414">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smtplib &amp; email.mime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Sending email alerts for fire/smoke detection</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8864736"/>
                  </a:ext>
                </a:extLst>
              </a:tr>
              <a:tr h="343414">
                <a:tc>
                  <a:txBody>
                    <a:bodyPr/>
                    <a:lstStyle/>
                    <a:p>
                      <a:pPr>
                        <a:buNone/>
                      </a:pPr>
                      <a:endParaRPr lang="en-IN" sz="105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OpenCV &amp; gTTS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dirty="0"/>
                        <a:t>Camera-based fire detection &amp; audio alerts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8337018"/>
                  </a:ext>
                </a:extLst>
              </a:tr>
              <a:tr h="343414">
                <a:tc>
                  <a:txBody>
                    <a:bodyPr/>
                    <a:lstStyle/>
                    <a:p>
                      <a:pPr>
                        <a:buNone/>
                      </a:pPr>
                      <a:r>
                        <a:rPr lang="en-IN" sz="1400" b="1" dirty="0"/>
                        <a:t>Cloud / Database</a:t>
                      </a:r>
                      <a:endParaRPr lang="en-IN" sz="1400" dirty="0"/>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050"/>
                        <a:t>Blynk Realtime Database</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50" dirty="0"/>
                        <a:t>Stores sensor readings, robot status, commands, alerts</a:t>
                      </a:r>
                    </a:p>
                  </a:txBody>
                  <a:tcPr marL="18390" marR="18390" marT="9195" marB="91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058823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Implementation</a:t>
            </a:r>
          </a:p>
        </p:txBody>
      </p:sp>
      <p:sp>
        <p:nvSpPr>
          <p:cNvPr id="3" name="Content Placeholder 2"/>
          <p:cNvSpPr>
            <a:spLocks noGrp="1"/>
          </p:cNvSpPr>
          <p:nvPr>
            <p:ph idx="1"/>
          </p:nvPr>
        </p:nvSpPr>
        <p:spPr/>
        <p:txBody>
          <a:bodyPr/>
          <a:lstStyle/>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Experimental Setup</a:t>
            </a:r>
          </a:p>
        </p:txBody>
      </p:sp>
      <p:sp>
        <p:nvSpPr>
          <p:cNvPr id="3" name="Content Placeholder 2"/>
          <p:cNvSpPr>
            <a:spLocks noGrp="1"/>
          </p:cNvSpPr>
          <p:nvPr>
            <p:ph idx="1"/>
          </p:nvPr>
        </p:nvSpPr>
        <p:spPr/>
        <p:txBody>
          <a:bodyPr/>
          <a:lstStyle/>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Expected Outcomes</a:t>
            </a:r>
          </a:p>
        </p:txBody>
      </p:sp>
      <p:sp>
        <p:nvSpPr>
          <p:cNvPr id="3" name="Content Placeholder 2"/>
          <p:cNvSpPr>
            <a:spLocks noGrp="1"/>
          </p:cNvSpPr>
          <p:nvPr>
            <p:ph idx="1"/>
          </p:nvPr>
        </p:nvSpPr>
        <p:spPr/>
        <p:txBody>
          <a:bodyPr/>
          <a:lstStyle/>
          <a:p>
            <a:endParaRPr dirty="0"/>
          </a:p>
          <a:p>
            <a:pPr algn="l">
              <a:defRPr sz="2000"/>
            </a:pPr>
            <a:r>
              <a:rPr dirty="0">
                <a:latin typeface="Times New Roman" panose="02020603050405020304" pitchFamily="18" charset="0"/>
                <a:cs typeface="Times New Roman" panose="02020603050405020304" pitchFamily="18" charset="0"/>
              </a:rPr>
              <a:t>Robot guides users indoors.</a:t>
            </a:r>
          </a:p>
          <a:p>
            <a:pPr algn="l">
              <a:defRPr sz="2000"/>
            </a:pPr>
            <a:r>
              <a:rPr dirty="0">
                <a:latin typeface="Times New Roman" panose="02020603050405020304" pitchFamily="18" charset="0"/>
                <a:cs typeface="Times New Roman" panose="02020603050405020304" pitchFamily="18" charset="0"/>
              </a:rPr>
              <a:t>Responds to voice queries instantly.</a:t>
            </a:r>
          </a:p>
          <a:p>
            <a:pPr algn="l">
              <a:defRPr sz="2000"/>
            </a:pPr>
            <a:r>
              <a:rPr dirty="0">
                <a:latin typeface="Times New Roman" panose="02020603050405020304" pitchFamily="18" charset="0"/>
                <a:cs typeface="Times New Roman" panose="02020603050405020304" pitchFamily="18" charset="0"/>
              </a:rPr>
              <a:t>Detects smoke/fire and sends real-time alerts.</a:t>
            </a:r>
          </a:p>
          <a:p>
            <a:pPr algn="l">
              <a:defRPr sz="2000"/>
            </a:pPr>
            <a:r>
              <a:rPr dirty="0">
                <a:latin typeface="Times New Roman" panose="02020603050405020304" pitchFamily="18" charset="0"/>
                <a:cs typeface="Times New Roman" panose="02020603050405020304" pitchFamily="18" charset="0"/>
              </a:rPr>
              <a:t>Affordable, scalable solution for smart campuses &amp; hospitals.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816" y="683493"/>
            <a:ext cx="6997700" cy="1455737"/>
          </a:xfrm>
        </p:spPr>
        <p:txBody>
          <a:bodyPr/>
          <a:lstStyle/>
          <a:p>
            <a:r>
              <a:rP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Goal Alignment (UN SDGs)</a:t>
            </a:r>
          </a:p>
        </p:txBody>
      </p:sp>
      <p:pic>
        <p:nvPicPr>
          <p:cNvPr id="5" name="Content Placeholder 4">
            <a:extLst>
              <a:ext uri="{FF2B5EF4-FFF2-40B4-BE49-F238E27FC236}">
                <a16:creationId xmlns:a16="http://schemas.microsoft.com/office/drawing/2014/main" id="{B1A1C9DE-58BC-5E64-92B1-01311D52B2A5}"/>
              </a:ext>
            </a:extLst>
          </p:cNvPr>
          <p:cNvPicPr>
            <a:picLocks noGrp="1" noChangeAspect="1"/>
          </p:cNvPicPr>
          <p:nvPr>
            <p:ph idx="1"/>
          </p:nvPr>
        </p:nvPicPr>
        <p:blipFill>
          <a:blip r:embed="rId2"/>
          <a:stretch>
            <a:fillRect/>
          </a:stretch>
        </p:blipFill>
        <p:spPr bwMode="auto">
          <a:xfrm>
            <a:off x="665692" y="1907629"/>
            <a:ext cx="7128792"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513" y="395461"/>
            <a:ext cx="6997700" cy="1455737"/>
          </a:xfrm>
        </p:spPr>
        <p:txBody>
          <a:bodyPr/>
          <a:lstStyle/>
          <a:p>
            <a:r>
              <a:rPr sz="5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pPr marL="0" indent="0" algn="just">
              <a:buNone/>
            </a:pPr>
            <a:r>
              <a:rPr lang="en-US" sz="2000" dirty="0">
                <a:latin typeface="Times New Roman" panose="02020603050405020304" pitchFamily="18" charset="0"/>
                <a:cs typeface="Times New Roman" panose="02020603050405020304" pitchFamily="18" charset="0"/>
              </a:rPr>
              <a:t>The review of existing systems shows that while some focus on navigation and others on safety, none provide a unified, affordable solution suitable for large institutions. Room Rover addresses this gap by integrating indoor navigation with IoT-enabled emergency support in a single platform. It ensures that users can easily find their destinations through simple voice interaction while also being protected by real-time smoke detection and SOS alerts. By combining navigation, communication, and emergency preparedness, Room Rover not only improves convenience and accessibility but also builds a safer and more efficient environment for universities, hospitals, and corporate buildings.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824" y="523900"/>
            <a:ext cx="6997700" cy="1455737"/>
          </a:xfrm>
        </p:spPr>
        <p:txBody>
          <a:bodyPr/>
          <a:lstStyle/>
          <a:p>
            <a:r>
              <a:rPr sz="5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5816" y="1979637"/>
            <a:ext cx="7776863" cy="4536503"/>
          </a:xfrm>
        </p:spPr>
        <p:txBody>
          <a:bodyPr/>
          <a:lstStyle/>
          <a:p>
            <a:endParaRPr sz="1600" dirty="0">
              <a:latin typeface="Times New Roman" panose="02020603050405020304" pitchFamily="18" charset="0"/>
              <a:cs typeface="Times New Roman" panose="02020603050405020304" pitchFamily="18" charset="0"/>
            </a:endParaRPr>
          </a:p>
          <a:p>
            <a:pPr algn="l">
              <a:defRPr sz="2000"/>
            </a:pPr>
            <a:r>
              <a:rPr sz="1600" b="1" dirty="0">
                <a:latin typeface="Times New Roman" panose="02020603050405020304" pitchFamily="18" charset="0"/>
                <a:cs typeface="Times New Roman" panose="02020603050405020304" pitchFamily="18" charset="0"/>
              </a:rPr>
              <a:t>Amazon Astro </a:t>
            </a:r>
            <a:r>
              <a:rPr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hlinkClick r:id="rId2"/>
              </a:rPr>
              <a:t>https://www.amazon.com/Astro-Household-robot-for-home/dp/B094XD5ZW6</a:t>
            </a:r>
            <a:endParaRPr sz="1600" dirty="0">
              <a:latin typeface="Times New Roman" panose="02020603050405020304" pitchFamily="18" charset="0"/>
              <a:cs typeface="Times New Roman" panose="02020603050405020304" pitchFamily="18" charset="0"/>
            </a:endParaRPr>
          </a:p>
          <a:p>
            <a:pPr algn="l">
              <a:defRPr sz="2000"/>
            </a:pPr>
            <a:r>
              <a:rPr sz="1600" b="1" dirty="0">
                <a:latin typeface="Times New Roman" panose="02020603050405020304" pitchFamily="18" charset="0"/>
                <a:cs typeface="Times New Roman" panose="02020603050405020304" pitchFamily="18" charset="0"/>
              </a:rPr>
              <a:t>TurtleBot</a:t>
            </a:r>
            <a:r>
              <a:rPr sz="1600" dirty="0">
                <a:latin typeface="Times New Roman" panose="02020603050405020304" pitchFamily="18" charset="0"/>
                <a:cs typeface="Times New Roman" panose="02020603050405020304" pitchFamily="18" charset="0"/>
              </a:rPr>
              <a:t> – </a:t>
            </a:r>
            <a:r>
              <a:rPr sz="1600" dirty="0">
                <a:latin typeface="Times New Roman" panose="02020603050405020304" pitchFamily="18" charset="0"/>
                <a:cs typeface="Times New Roman" panose="02020603050405020304" pitchFamily="18" charset="0"/>
                <a:hlinkClick r:id="rId3"/>
              </a:rPr>
              <a:t>https://www.turtlebot.com</a:t>
            </a:r>
            <a:endParaRPr lang="en-US" sz="1600" dirty="0">
              <a:latin typeface="Times New Roman" panose="02020603050405020304" pitchFamily="18" charset="0"/>
              <a:cs typeface="Times New Roman" panose="02020603050405020304" pitchFamily="18" charset="0"/>
            </a:endParaRPr>
          </a:p>
          <a:p>
            <a:pPr algn="l">
              <a:defRPr sz="2000"/>
            </a:pPr>
            <a:r>
              <a:rPr lang="en-US" altLang="en-US" sz="1600" b="1" dirty="0">
                <a:latin typeface="Times New Roman" panose="02020603050405020304" pitchFamily="18" charset="0"/>
                <a:cs typeface="Times New Roman" panose="02020603050405020304" pitchFamily="18" charset="0"/>
              </a:rPr>
              <a:t>"A Survey on Autonomous Navigation for Mobile Robots: From Traditional Techniques  to Deep Learning and Large Language Models" </a:t>
            </a:r>
            <a:r>
              <a:rPr lang="en-US" altLang="en-US" sz="1600" dirty="0">
                <a:latin typeface="Times New Roman" panose="02020603050405020304" pitchFamily="18" charset="0"/>
                <a:cs typeface="Times New Roman" panose="02020603050405020304" pitchFamily="18" charset="0"/>
              </a:rPr>
              <a:t>(Robotics Journal, MDPI) Ying He, Xiang Li,  et al. (2025).</a:t>
            </a:r>
          </a:p>
          <a:p>
            <a:pPr algn="l">
              <a:defRPr sz="2000"/>
            </a:pPr>
            <a:r>
              <a:rPr lang="en-US" altLang="en-US" sz="1600" b="1" dirty="0">
                <a:solidFill>
                  <a:schemeClr val="tx1"/>
                </a:solidFill>
                <a:latin typeface="Times New Roman" panose="02020603050405020304" pitchFamily="18" charset="0"/>
                <a:cs typeface="Times New Roman" panose="02020603050405020304" pitchFamily="18" charset="0"/>
              </a:rPr>
              <a:t>"Sensor Based Algorithm for Self-Navigating Robot Using IoT" </a:t>
            </a:r>
            <a:r>
              <a:rPr lang="en-US" altLang="en-US" sz="1600" dirty="0">
                <a:solidFill>
                  <a:schemeClr val="tx1"/>
                </a:solidFill>
                <a:latin typeface="Times New Roman" panose="02020603050405020304" pitchFamily="18" charset="0"/>
                <a:cs typeface="Times New Roman" panose="02020603050405020304" pitchFamily="18" charset="0"/>
              </a:rPr>
              <a:t>(International Journal of  Advanced Computer Science and Applications – IJACSA) Ananya Sharma, Ravi Patel (2022).</a:t>
            </a:r>
          </a:p>
          <a:p>
            <a:pPr algn="l">
              <a:defRPr sz="2000"/>
            </a:pPr>
            <a:r>
              <a:rPr lang="en-US" altLang="en-US" sz="1600" b="1" dirty="0">
                <a:solidFill>
                  <a:schemeClr val="tx1"/>
                </a:solidFill>
                <a:latin typeface="Times New Roman" panose="02020603050405020304" pitchFamily="18" charset="0"/>
                <a:cs typeface="Times New Roman" panose="02020603050405020304" pitchFamily="18" charset="0"/>
              </a:rPr>
              <a:t>"A SLAM-Based Indoor Navigation System for Service Robots" </a:t>
            </a:r>
            <a:r>
              <a:rPr lang="en-US" altLang="en-US" sz="1600" dirty="0">
                <a:solidFill>
                  <a:schemeClr val="tx1"/>
                </a:solidFill>
                <a:latin typeface="Times New Roman" panose="02020603050405020304" pitchFamily="18" charset="0"/>
                <a:cs typeface="Times New Roman" panose="02020603050405020304" pitchFamily="18" charset="0"/>
              </a:rPr>
              <a:t>(IEEE) Chen Zhang, Li Wei, et al. (2021). </a:t>
            </a:r>
          </a:p>
          <a:p>
            <a:pPr algn="l">
              <a:defRPr sz="2000"/>
            </a:pPr>
            <a:r>
              <a:rPr lang="en-US" altLang="en-US" sz="1600" b="1" dirty="0">
                <a:solidFill>
                  <a:schemeClr val="tx1"/>
                </a:solidFill>
                <a:latin typeface="Times New Roman" panose="02020603050405020304" pitchFamily="18" charset="0"/>
                <a:cs typeface="Times New Roman" panose="02020603050405020304" pitchFamily="18" charset="0"/>
              </a:rPr>
              <a:t>"IoT-Based Fire Detection and Alert System" </a:t>
            </a:r>
            <a:r>
              <a:rPr lang="en-US" altLang="en-US" sz="1600" dirty="0">
                <a:solidFill>
                  <a:schemeClr val="tx1"/>
                </a:solidFill>
                <a:latin typeface="Times New Roman" panose="02020603050405020304" pitchFamily="18" charset="0"/>
                <a:cs typeface="Times New Roman" panose="02020603050405020304" pitchFamily="18" charset="0"/>
              </a:rPr>
              <a:t>(Springer)</a:t>
            </a:r>
            <a:r>
              <a:rPr lang="en-US" altLang="en-US" sz="1600" dirty="0">
                <a:latin typeface="Times New Roman" panose="02020603050405020304" pitchFamily="18" charset="0"/>
                <a:cs typeface="Times New Roman" panose="02020603050405020304" pitchFamily="18" charset="0"/>
              </a:rPr>
              <a:t>  </a:t>
            </a:r>
            <a:r>
              <a:rPr lang="en-US" altLang="en-US" sz="1600" dirty="0">
                <a:solidFill>
                  <a:schemeClr val="tx1"/>
                </a:solidFill>
                <a:latin typeface="Times New Roman" panose="02020603050405020304" pitchFamily="18" charset="0"/>
                <a:cs typeface="Times New Roman" panose="02020603050405020304" pitchFamily="18" charset="0"/>
              </a:rPr>
              <a:t>Priya R., Kumar S., et al. (2020)</a:t>
            </a:r>
          </a:p>
          <a:p>
            <a:pPr marL="0" indent="0" algn="l">
              <a:buNone/>
              <a:defRPr sz="2000"/>
            </a:pPr>
            <a:endParaRPr lang="en-US" altLang="en-US" sz="1600" dirty="0">
              <a:solidFill>
                <a:schemeClr val="tx1"/>
              </a:solidFill>
              <a:latin typeface="Times New Roman" panose="02020603050405020304" pitchFamily="18" charset="0"/>
              <a:cs typeface="Times New Roman" panose="02020603050405020304" pitchFamily="18" charset="0"/>
            </a:endParaRPr>
          </a:p>
          <a:p>
            <a:pPr algn="l">
              <a:defRPr sz="2000"/>
            </a:pPr>
            <a:endParaRPr lang="en-US" altLang="en-US" sz="1600" dirty="0">
              <a:solidFill>
                <a:schemeClr val="tx1"/>
              </a:solidFill>
              <a:latin typeface="Times New Roman" panose="02020603050405020304" pitchFamily="18" charset="0"/>
              <a:cs typeface="Times New Roman" panose="02020603050405020304" pitchFamily="18" charset="0"/>
            </a:endParaRPr>
          </a:p>
          <a:p>
            <a:pPr algn="l">
              <a:defRPr sz="2000"/>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840" y="2915741"/>
            <a:ext cx="6997700" cy="1584176"/>
          </a:xfrm>
        </p:spPr>
        <p:txBody>
          <a:bodyPr/>
          <a:lstStyle/>
          <a:p>
            <a:pPr algn="ctr"/>
            <a:r>
              <a:rPr sz="6000" b="1" dirty="0">
                <a:effectLst>
                  <a:outerShdw blurRad="38100" dist="38100" dir="2700000" algn="tl">
                    <a:srgbClr val="000000">
                      <a:alpha val="43137"/>
                    </a:srgbClr>
                  </a:outerShdw>
                </a:effectLst>
              </a:rPr>
              <a:t>Thank You</a:t>
            </a:r>
            <a:r>
              <a:rPr lang="en-US" sz="6000" b="1" dirty="0">
                <a:effectLst>
                  <a:outerShdw blurRad="38100" dist="38100" dir="2700000" algn="tl">
                    <a:srgbClr val="000000">
                      <a:alpha val="43137"/>
                    </a:srgbClr>
                  </a:outerShdw>
                </a:effectLst>
              </a:rPr>
              <a:t> !!</a:t>
            </a:r>
            <a:endParaRPr sz="6000" b="1" dirty="0">
              <a:effectLst>
                <a:outerShdw blurRad="38100" dist="38100" dir="2700000" algn="tl">
                  <a:srgbClr val="000000">
                    <a:alpha val="43137"/>
                  </a:srgbClr>
                </a:outerShdw>
              </a:effectLst>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353</TotalTime>
  <Words>905</Words>
  <Application>Microsoft Office PowerPoint</Application>
  <PresentationFormat>Custom</PresentationFormat>
  <Paragraphs>117</Paragraphs>
  <Slides>16</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Times New Roman</vt:lpstr>
      <vt:lpstr>Trebuchet MS</vt:lpstr>
      <vt:lpstr>Wingdings 3</vt:lpstr>
      <vt:lpstr>Facet</vt:lpstr>
      <vt:lpstr>RoomRover - Smart IoT Based Navigation</vt:lpstr>
      <vt:lpstr>Outline</vt:lpstr>
      <vt:lpstr>Introduction</vt:lpstr>
      <vt:lpstr>Literature Survey</vt:lpstr>
      <vt:lpstr>Limitations of Existing Systems</vt:lpstr>
      <vt:lpstr>Problem Statement</vt:lpstr>
      <vt:lpstr>Objectives</vt:lpstr>
      <vt:lpstr>Proposed System</vt:lpstr>
      <vt:lpstr>Tools &amp; Technologies</vt:lpstr>
      <vt:lpstr>Implementation</vt:lpstr>
      <vt:lpstr>Experimental Setup</vt:lpstr>
      <vt:lpstr>Expected Outcomes</vt:lpstr>
      <vt:lpstr>Goal Alignment (UN SDGs)</vt:lpstr>
      <vt:lpstr>Conclusion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Arya Raut</cp:lastModifiedBy>
  <cp:revision>33</cp:revision>
  <cp:lastPrinted>1601-01-01T00:00:00Z</cp:lastPrinted>
  <dcterms:created xsi:type="dcterms:W3CDTF">2017-10-25T08:22:14Z</dcterms:created>
  <dcterms:modified xsi:type="dcterms:W3CDTF">2025-10-16T18:53:18Z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